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21"/>
  </p:notesMasterIdLst>
  <p:handoutMasterIdLst>
    <p:handoutMasterId r:id="rId22"/>
  </p:handoutMasterIdLst>
  <p:sldIdLst>
    <p:sldId id="289" r:id="rId5"/>
    <p:sldId id="288" r:id="rId6"/>
    <p:sldId id="290" r:id="rId7"/>
    <p:sldId id="261" r:id="rId8"/>
    <p:sldId id="300" r:id="rId9"/>
    <p:sldId id="291" r:id="rId10"/>
    <p:sldId id="264" r:id="rId11"/>
    <p:sldId id="294" r:id="rId12"/>
    <p:sldId id="265" r:id="rId13"/>
    <p:sldId id="292" r:id="rId14"/>
    <p:sldId id="263" r:id="rId15"/>
    <p:sldId id="295" r:id="rId16"/>
    <p:sldId id="297" r:id="rId17"/>
    <p:sldId id="296" r:id="rId18"/>
    <p:sldId id="298" r:id="rId19"/>
    <p:sldId id="26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94" autoAdjust="0"/>
  </p:normalViewPr>
  <p:slideViewPr>
    <p:cSldViewPr snapToGrid="0">
      <p:cViewPr>
        <p:scale>
          <a:sx n="63" d="100"/>
          <a:sy n="63" d="100"/>
        </p:scale>
        <p:origin x="804"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296"/>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12/19/2025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16</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520464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12/19/2025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3" r:id="rId14"/>
    <p:sldLayoutId id="2147483685" r:id="rId15"/>
    <p:sldLayoutId id="2147483686" r:id="rId16"/>
    <p:sldLayoutId id="2147483687" r:id="rId17"/>
    <p:sldLayoutId id="2147483691" r:id="rId18"/>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6" name="Straight Connector 13">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15">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17">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19">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21">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23">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25">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43" name="Rectangle 27">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a:xfrm>
            <a:off x="1015488" y="533400"/>
            <a:ext cx="4493885" cy="3614271"/>
          </a:xfrm>
        </p:spPr>
        <p:txBody>
          <a:bodyPr vert="horz" lIns="91440" tIns="45720" rIns="91440" bIns="45720" rtlCol="0" anchor="b">
            <a:normAutofit/>
          </a:bodyPr>
          <a:lstStyle/>
          <a:p>
            <a:r>
              <a:rPr lang="en-US" sz="5000">
                <a:solidFill>
                  <a:schemeClr val="tx2"/>
                </a:solidFill>
                <a:effectLst/>
              </a:rPr>
              <a:t>How to get started: The case structure </a:t>
            </a:r>
            <a:endParaRPr lang="en-US" sz="5000">
              <a:solidFill>
                <a:schemeClr val="tx2"/>
              </a:solidFill>
            </a:endParaRPr>
          </a:p>
        </p:txBody>
      </p:sp>
      <p:cxnSp>
        <p:nvCxnSpPr>
          <p:cNvPr id="44" name="Straight Connector 29">
            <a:extLst>
              <a:ext uri="{FF2B5EF4-FFF2-40B4-BE49-F238E27FC236}">
                <a16:creationId xmlns:a16="http://schemas.microsoft.com/office/drawing/2014/main" id="{B42E889C-BF1F-40B2-86C2-92153DB7E6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8034" y="0"/>
            <a:ext cx="6553966" cy="354261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31">
            <a:extLst>
              <a:ext uri="{FF2B5EF4-FFF2-40B4-BE49-F238E27FC236}">
                <a16:creationId xmlns:a16="http://schemas.microsoft.com/office/drawing/2014/main" id="{8557940A-71CE-48E1-BD71-2BEF15613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851108" y="4783369"/>
            <a:ext cx="5340893" cy="207463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33">
            <a:extLst>
              <a:ext uri="{FF2B5EF4-FFF2-40B4-BE49-F238E27FC236}">
                <a16:creationId xmlns:a16="http://schemas.microsoft.com/office/drawing/2014/main" id="{4777C915-01E5-4C85-B3BF-7BF7CC3FE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0021640" y="0"/>
            <a:ext cx="1268175"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a:xfrm>
            <a:off x="5996242" y="533400"/>
            <a:ext cx="5522632" cy="5791200"/>
          </a:xfrm>
          <a:prstGeom prst="rect">
            <a:avLst/>
          </a:prstGeom>
        </p:spPr>
      </p:pic>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3" name="Straight Connector 52">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67" name="Rectangle 66">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5146159" y="685800"/>
            <a:ext cx="6238688" cy="1382233"/>
          </a:xfrm>
        </p:spPr>
        <p:txBody>
          <a:bodyPr vert="horz" lIns="91440" tIns="45720" rIns="91440" bIns="45720" rtlCol="0" anchor="ctr">
            <a:normAutofit/>
          </a:bodyPr>
          <a:lstStyle/>
          <a:p>
            <a:pPr algn="ctr"/>
            <a:r>
              <a:rPr lang="en-US" sz="3600" b="1" dirty="0"/>
              <a:t>Key Elements of a Case </a:t>
            </a:r>
          </a:p>
        </p:txBody>
      </p:sp>
      <p:pic>
        <p:nvPicPr>
          <p:cNvPr id="25" name="Picture Placeholder 6" descr="A city skyline">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t="46709" r="1" b="1"/>
          <a:stretch>
            <a:fillRect/>
          </a:stretch>
        </p:blipFill>
        <p:spPr>
          <a:xfrm>
            <a:off x="20" y="-7444"/>
            <a:ext cx="4966427" cy="6874330"/>
          </a:xfrm>
          <a:custGeom>
            <a:avLst/>
            <a:gdLst/>
            <a:ahLst/>
            <a:cxnLst/>
            <a:rect l="l" t="t" r="r" b="b"/>
            <a:pathLst>
              <a:path w="4966447" h="6874330">
                <a:moveTo>
                  <a:pt x="0" y="0"/>
                </a:moveTo>
                <a:lnTo>
                  <a:pt x="4966447" y="0"/>
                </a:lnTo>
                <a:lnTo>
                  <a:pt x="3355712" y="6874330"/>
                </a:lnTo>
                <a:lnTo>
                  <a:pt x="0" y="6874330"/>
                </a:lnTo>
                <a:close/>
              </a:path>
            </a:pathLst>
          </a:custGeom>
        </p:spPr>
      </p:pic>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146158" y="2301949"/>
            <a:ext cx="6238687" cy="4022650"/>
          </a:xfrm>
        </p:spPr>
        <p:txBody>
          <a:bodyPr vert="horz" lIns="91440" tIns="45720" rIns="91440" bIns="45720" rtlCol="0">
            <a:normAutofit fontScale="92500" lnSpcReduction="20000"/>
          </a:bodyPr>
          <a:lstStyle/>
          <a:p>
            <a:pPr indent="-228600">
              <a:lnSpc>
                <a:spcPct val="100000"/>
              </a:lnSpc>
              <a:buFont typeface="Arial" panose="020B0604020202020204" pitchFamily="34" charset="0"/>
              <a:buChar char="•"/>
            </a:pPr>
            <a:endParaRPr lang="en-US" b="1" dirty="0"/>
          </a:p>
          <a:p>
            <a:pPr marL="285750" indent="-228600">
              <a:lnSpc>
                <a:spcPct val="100000"/>
              </a:lnSpc>
              <a:buFont typeface="Arial" panose="020B0604020202020204" pitchFamily="34" charset="0"/>
              <a:buChar char="•"/>
            </a:pPr>
            <a:r>
              <a:rPr lang="en-US" sz="2400" dirty="0"/>
              <a:t>Core Dilemma : A managerial issue that needs attention, involves stake holders and calls for decision making</a:t>
            </a:r>
          </a:p>
          <a:p>
            <a:pPr marL="285750" indent="-228600">
              <a:lnSpc>
                <a:spcPct val="100000"/>
              </a:lnSpc>
              <a:buFont typeface="Arial" panose="020B0604020202020204" pitchFamily="34" charset="0"/>
              <a:buChar char="•"/>
            </a:pPr>
            <a:r>
              <a:rPr lang="en-US" sz="2400" dirty="0"/>
              <a:t>Protagonist : A central figure in the case who is facing a management decision issue</a:t>
            </a:r>
          </a:p>
          <a:p>
            <a:pPr marL="285750" indent="-228600">
              <a:lnSpc>
                <a:spcPct val="100000"/>
              </a:lnSpc>
              <a:buFont typeface="Arial" panose="020B0604020202020204" pitchFamily="34" charset="0"/>
              <a:buChar char="•"/>
            </a:pPr>
            <a:r>
              <a:rPr lang="en-US" sz="2400" dirty="0"/>
              <a:t>Background : All relevant details of the business, industry that will help students understand the case context   </a:t>
            </a:r>
          </a:p>
          <a:p>
            <a:pPr marL="285750" indent="-228600">
              <a:lnSpc>
                <a:spcPct val="100000"/>
              </a:lnSpc>
              <a:buFont typeface="Arial" panose="020B0604020202020204" pitchFamily="34" charset="0"/>
              <a:buChar char="•"/>
            </a:pPr>
            <a:r>
              <a:rPr lang="en-US" sz="2400" dirty="0"/>
              <a:t>Hook : Opening paragraph that catches the readers’ attention and introduces the key details of the case.</a:t>
            </a:r>
          </a:p>
          <a:p>
            <a:pPr marL="285750" indent="-228600">
              <a:lnSpc>
                <a:spcPct val="100000"/>
              </a:lnSpc>
              <a:buFont typeface="Arial" panose="020B0604020202020204" pitchFamily="34" charset="0"/>
              <a:buChar char="•"/>
            </a:pPr>
            <a:r>
              <a:rPr lang="en-US" sz="2400" dirty="0"/>
              <a:t>Action Trigger/s : Call for action by the protagonist, s/he must decide now/soon, Sets the time frame.</a:t>
            </a:r>
          </a:p>
          <a:p>
            <a:pPr indent="-228600">
              <a:lnSpc>
                <a:spcPct val="100000"/>
              </a:lnSpc>
              <a:buFont typeface="Arial" panose="020B0604020202020204" pitchFamily="34" charset="0"/>
              <a:buChar char="•"/>
            </a:pPr>
            <a:endParaRPr lang="en-US" dirty="0"/>
          </a:p>
        </p:txBody>
      </p:sp>
      <p:cxnSp>
        <p:nvCxnSpPr>
          <p:cNvPr id="69" name="Straight Connector 68">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627455" y="-19394"/>
            <a:ext cx="806149" cy="687739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351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6AAD-4C49-B89C-7F05-8E74067401F2}"/>
              </a:ext>
            </a:extLst>
          </p:cNvPr>
          <p:cNvSpPr>
            <a:spLocks noGrp="1"/>
          </p:cNvSpPr>
          <p:nvPr>
            <p:ph type="title"/>
          </p:nvPr>
        </p:nvSpPr>
        <p:spPr/>
        <p:txBody>
          <a:bodyPr/>
          <a:lstStyle/>
          <a:p>
            <a:r>
              <a:rPr lang="en-IN" dirty="0"/>
              <a:t>What catches the eye?</a:t>
            </a:r>
          </a:p>
        </p:txBody>
      </p:sp>
      <p:sp>
        <p:nvSpPr>
          <p:cNvPr id="4" name="Content Placeholder 3">
            <a:extLst>
              <a:ext uri="{FF2B5EF4-FFF2-40B4-BE49-F238E27FC236}">
                <a16:creationId xmlns:a16="http://schemas.microsoft.com/office/drawing/2014/main" id="{BD21F745-0528-A05F-C6DB-8292E32C2F1A}"/>
              </a:ext>
            </a:extLst>
          </p:cNvPr>
          <p:cNvSpPr>
            <a:spLocks noGrp="1"/>
          </p:cNvSpPr>
          <p:nvPr>
            <p:ph idx="1"/>
          </p:nvPr>
        </p:nvSpPr>
        <p:spPr/>
        <p:txBody>
          <a:bodyPr>
            <a:normAutofit/>
          </a:bodyPr>
          <a:lstStyle/>
          <a:p>
            <a:r>
              <a:rPr lang="en-IN" sz="2300" dirty="0"/>
              <a:t>Media Headlines</a:t>
            </a:r>
          </a:p>
          <a:p>
            <a:r>
              <a:rPr lang="en-IN" sz="2300" dirty="0"/>
              <a:t>Well Known organisations</a:t>
            </a:r>
          </a:p>
          <a:p>
            <a:r>
              <a:rPr lang="en-IN" sz="2300" dirty="0"/>
              <a:t>New /interesting industry (Games, streaming, sports, Influencers, theme wedding!) </a:t>
            </a:r>
          </a:p>
          <a:p>
            <a:r>
              <a:rPr lang="en-IN" sz="2300" dirty="0"/>
              <a:t>New disruption (Technology, AI)</a:t>
            </a:r>
          </a:p>
          <a:p>
            <a:r>
              <a:rPr lang="en-IN" sz="2300" dirty="0"/>
              <a:t>In news (Indigo crisis)</a:t>
            </a:r>
          </a:p>
          <a:p>
            <a:r>
              <a:rPr lang="en-IN" sz="2300" dirty="0"/>
              <a:t>Controversy/Crisis (Covid, Delhi Pollution)</a:t>
            </a:r>
          </a:p>
          <a:p>
            <a:r>
              <a:rPr lang="en-IN" sz="2300" dirty="0"/>
              <a:t>Scale (</a:t>
            </a:r>
            <a:r>
              <a:rPr lang="en-IN" sz="2300" dirty="0" err="1"/>
              <a:t>Maha</a:t>
            </a:r>
            <a:r>
              <a:rPr lang="en-IN" sz="2300" dirty="0"/>
              <a:t>-Kumbh)</a:t>
            </a:r>
          </a:p>
          <a:p>
            <a:r>
              <a:rPr lang="en-IN" sz="2300" dirty="0"/>
              <a:t>Relatable (Company, protagonist, issue)</a:t>
            </a:r>
          </a:p>
          <a:p>
            <a:endParaRPr lang="en-IN" dirty="0"/>
          </a:p>
          <a:p>
            <a:endParaRPr lang="en-IN" dirty="0"/>
          </a:p>
          <a:p>
            <a:endParaRPr lang="en-IN" dirty="0"/>
          </a:p>
        </p:txBody>
      </p:sp>
    </p:spTree>
    <p:extLst>
      <p:ext uri="{BB962C8B-B14F-4D97-AF65-F5344CB8AC3E}">
        <p14:creationId xmlns:p14="http://schemas.microsoft.com/office/powerpoint/2010/main" val="2229447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3362960" y="185195"/>
            <a:ext cx="8483600" cy="536165"/>
          </a:xfrm>
          <a:noFill/>
        </p:spPr>
        <p:txBody>
          <a:bodyPr/>
          <a:lstStyle/>
          <a:p>
            <a:r>
              <a:rPr lang="en-US" sz="2800" dirty="0"/>
              <a:t>What issues COULD Be written about? </a:t>
            </a:r>
          </a:p>
        </p:txBody>
      </p:sp>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sp>
        <p:nvSpPr>
          <p:cNvPr id="3" name="Content Placeholder 2">
            <a:extLst>
              <a:ext uri="{FF2B5EF4-FFF2-40B4-BE49-F238E27FC236}">
                <a16:creationId xmlns:a16="http://schemas.microsoft.com/office/drawing/2014/main" id="{A6A33159-D030-2F82-A142-F75940728319}"/>
              </a:ext>
            </a:extLst>
          </p:cNvPr>
          <p:cNvSpPr>
            <a:spLocks noGrp="1"/>
          </p:cNvSpPr>
          <p:nvPr>
            <p:ph sz="half" idx="2"/>
          </p:nvPr>
        </p:nvSpPr>
        <p:spPr>
          <a:xfrm>
            <a:off x="3273052" y="1053770"/>
            <a:ext cx="7638767" cy="5598715"/>
          </a:xfrm>
          <a:noFill/>
        </p:spPr>
        <p:txBody>
          <a:bodyPr vert="horz" lIns="91440" tIns="45720" rIns="91440" bIns="45720" rtlCol="0" anchor="t">
            <a:normAutofit/>
          </a:bodyPr>
          <a:lstStyle/>
          <a:p>
            <a:r>
              <a:rPr lang="en-IN" dirty="0"/>
              <a:t>How traditional organisations are coping with Digital Transformation and Organizational Change management? (Could be large orgs, Mid size Orgs,  family-owned businesses etc.)</a:t>
            </a:r>
          </a:p>
          <a:p>
            <a:r>
              <a:rPr lang="en-US" dirty="0"/>
              <a:t>How Organizational Culture impacts (Remote Work / Gig work, employee engagement, attrition, employee development, crisis management etc.)</a:t>
            </a:r>
          </a:p>
          <a:p>
            <a:r>
              <a:rPr lang="en-IN" dirty="0"/>
              <a:t>Diversity &amp; Inclusion (Company wise / Industry wise : PepsiCo, Accenture, Johnson and Johnson, Godrej Industries/ Manufacturing/Services/Mining/Seafaring etc.)</a:t>
            </a:r>
          </a:p>
          <a:p>
            <a:r>
              <a:rPr lang="en-IN" dirty="0"/>
              <a:t>Organisational Inertia and Innovation (Kodak, Blockbuster, Apple, Nokia, Samsung)</a:t>
            </a:r>
          </a:p>
          <a:p>
            <a:r>
              <a:rPr lang="en-IN" dirty="0"/>
              <a:t>Customer perception, Air Operations (Air India, Indigo) </a:t>
            </a:r>
          </a:p>
          <a:p>
            <a:endParaRPr lang="en-IN" dirty="0"/>
          </a:p>
          <a:p>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4648130A-96CA-7C32-CE8D-897DB123F024}"/>
              </a:ext>
            </a:extLst>
          </p:cNvPr>
          <p:cNvSpPr>
            <a:spLocks noGrp="1"/>
          </p:cNvSpPr>
          <p:nvPr>
            <p:ph type="title"/>
          </p:nvPr>
        </p:nvSpPr>
        <p:spPr>
          <a:xfrm>
            <a:off x="1143000" y="261279"/>
            <a:ext cx="9906000" cy="510881"/>
          </a:xfrm>
        </p:spPr>
        <p:txBody>
          <a:bodyPr>
            <a:normAutofit fontScale="90000"/>
          </a:bodyPr>
          <a:lstStyle/>
          <a:p>
            <a:r>
              <a:rPr lang="en-IN" sz="3200" dirty="0"/>
              <a:t>More issues Cont’d.</a:t>
            </a:r>
          </a:p>
        </p:txBody>
      </p:sp>
      <p:sp>
        <p:nvSpPr>
          <p:cNvPr id="7" name="Rectangle 1">
            <a:extLst>
              <a:ext uri="{FF2B5EF4-FFF2-40B4-BE49-F238E27FC236}">
                <a16:creationId xmlns:a16="http://schemas.microsoft.com/office/drawing/2014/main" id="{B2E6546A-1615-8DF8-F3DC-D6FDF99395A0}"/>
              </a:ext>
            </a:extLst>
          </p:cNvPr>
          <p:cNvSpPr>
            <a:spLocks noGrp="1" noChangeArrowheads="1"/>
          </p:cNvSpPr>
          <p:nvPr>
            <p:ph sz="half" idx="1"/>
          </p:nvPr>
        </p:nvSpPr>
        <p:spPr bwMode="auto">
          <a:xfrm>
            <a:off x="487680" y="1198040"/>
            <a:ext cx="5532120"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fontAlgn="base">
              <a:spcAft>
                <a:spcPct val="0"/>
              </a:spcAft>
              <a:buClrTx/>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dirty="0">
                <a:solidFill>
                  <a:schemeClr val="tx1"/>
                </a:solidFill>
                <a:latin typeface="Arial" panose="020B0604020202020204" pitchFamily="34" charset="0"/>
              </a:rPr>
              <a:t>Independent directors lacking real power</a:t>
            </a:r>
          </a:p>
          <a:p>
            <a:pPr marR="0" lvl="0" algn="just" fontAlgn="base">
              <a:spcAft>
                <a:spcPct val="0"/>
              </a:spcAft>
              <a:buClrTx/>
              <a:tabLst/>
            </a:pPr>
            <a:r>
              <a:rPr lang="en-US" altLang="en-US" sz="1800" dirty="0">
                <a:solidFill>
                  <a:schemeClr val="tx1"/>
                </a:solidFill>
                <a:latin typeface="Arial" panose="020B0604020202020204" pitchFamily="34" charset="0"/>
              </a:rPr>
              <a:t> CEO dominance undermining governance </a:t>
            </a:r>
          </a:p>
          <a:p>
            <a:pPr marR="0" lvl="0" algn="just" fontAlgn="base">
              <a:spcAft>
                <a:spcPct val="0"/>
              </a:spcAft>
              <a:buClrTx/>
              <a:tabLst/>
            </a:pPr>
            <a:r>
              <a:rPr lang="en-US" altLang="en-US" sz="1800" dirty="0">
                <a:solidFill>
                  <a:schemeClr val="tx1"/>
                </a:solidFill>
                <a:latin typeface="Arial" panose="020B0604020202020204" pitchFamily="34" charset="0"/>
              </a:rPr>
              <a:t> Strategy disagreements splitting the board </a:t>
            </a:r>
          </a:p>
          <a:p>
            <a:pPr algn="just">
              <a:buFont typeface="Arial" panose="020B0604020202020204" pitchFamily="34" charset="0"/>
              <a:buChar char="•"/>
            </a:pPr>
            <a:r>
              <a:rPr lang="en-US" sz="1800" dirty="0">
                <a:solidFill>
                  <a:schemeClr val="tx1"/>
                </a:solidFill>
                <a:latin typeface="Arial" panose="020B0604020202020204" pitchFamily="34" charset="0"/>
              </a:rPr>
              <a:t>Delayed response worsening a crisis, </a:t>
            </a:r>
          </a:p>
          <a:p>
            <a:pPr algn="just">
              <a:buFont typeface="Arial" panose="020B0604020202020204" pitchFamily="34" charset="0"/>
              <a:buChar char="•"/>
            </a:pPr>
            <a:r>
              <a:rPr lang="en-US" sz="1800" dirty="0">
                <a:solidFill>
                  <a:schemeClr val="tx1"/>
                </a:solidFill>
                <a:latin typeface="Arial" panose="020B0604020202020204" pitchFamily="34" charset="0"/>
              </a:rPr>
              <a:t>CEO silence vs. overexposure </a:t>
            </a:r>
          </a:p>
          <a:p>
            <a:pPr algn="just">
              <a:buFont typeface="Arial" panose="020B0604020202020204" pitchFamily="34" charset="0"/>
              <a:buChar char="•"/>
            </a:pPr>
            <a:r>
              <a:rPr lang="en-US" sz="1800" dirty="0">
                <a:solidFill>
                  <a:schemeClr val="tx1"/>
                </a:solidFill>
                <a:latin typeface="Arial" panose="020B0604020202020204" pitchFamily="34" charset="0"/>
              </a:rPr>
              <a:t>Leadership </a:t>
            </a:r>
            <a:r>
              <a:rPr lang="en-US" sz="1800" dirty="0" err="1">
                <a:solidFill>
                  <a:schemeClr val="tx1"/>
                </a:solidFill>
                <a:latin typeface="Arial" panose="020B0604020202020204" pitchFamily="34" charset="0"/>
              </a:rPr>
              <a:t>crisis:Founder</a:t>
            </a:r>
            <a:r>
              <a:rPr lang="en-US" sz="1800" dirty="0">
                <a:solidFill>
                  <a:schemeClr val="tx1"/>
                </a:solidFill>
                <a:latin typeface="Arial" panose="020B0604020202020204" pitchFamily="34" charset="0"/>
              </a:rPr>
              <a:t> bigger than the brand ? (Tesla/Musk)</a:t>
            </a:r>
          </a:p>
          <a:p>
            <a:pPr algn="just">
              <a:buFont typeface="Arial" panose="020B0604020202020204" pitchFamily="34" charset="0"/>
              <a:buChar char="•"/>
            </a:pPr>
            <a:r>
              <a:rPr lang="en-US" altLang="en-US" sz="1800" dirty="0">
                <a:solidFill>
                  <a:schemeClr val="tx1"/>
                </a:solidFill>
                <a:latin typeface="Arial" panose="020B0604020202020204" pitchFamily="34" charset="0"/>
              </a:rPr>
              <a:t>Repositioning a legacy brand for Gen Z </a:t>
            </a:r>
          </a:p>
          <a:p>
            <a:pPr algn="just">
              <a:buFont typeface="Arial" panose="020B0604020202020204" pitchFamily="34" charset="0"/>
              <a:buChar char="•"/>
            </a:pPr>
            <a:r>
              <a:rPr lang="en-US" altLang="en-US" sz="1800" dirty="0">
                <a:solidFill>
                  <a:schemeClr val="tx1"/>
                </a:solidFill>
                <a:latin typeface="Arial" panose="020B0604020202020204" pitchFamily="34" charset="0"/>
              </a:rPr>
              <a:t>Crisis triggered by a marketing campaign </a:t>
            </a:r>
          </a:p>
          <a:p>
            <a:pPr algn="just">
              <a:buFont typeface="Arial" panose="020B0604020202020204" pitchFamily="34" charset="0"/>
              <a:buChar char="•"/>
            </a:pPr>
            <a:r>
              <a:rPr lang="en-US" altLang="en-US" sz="1800" dirty="0">
                <a:solidFill>
                  <a:schemeClr val="tx1"/>
                </a:solidFill>
                <a:latin typeface="Arial" panose="020B0604020202020204" pitchFamily="34" charset="0"/>
              </a:rPr>
              <a:t>Premium brand dilution through discounting </a:t>
            </a:r>
          </a:p>
          <a:p>
            <a:pPr algn="just">
              <a:buFont typeface="Arial" panose="020B0604020202020204" pitchFamily="34" charset="0"/>
              <a:buChar char="•"/>
            </a:pPr>
            <a:r>
              <a:rPr lang="en-US" altLang="en-US" sz="1800" dirty="0">
                <a:solidFill>
                  <a:schemeClr val="tx1"/>
                </a:solidFill>
                <a:latin typeface="Arial" panose="020B0604020202020204" pitchFamily="34" charset="0"/>
              </a:rPr>
              <a:t>Cost efficiency vs. supply chain resilience </a:t>
            </a:r>
          </a:p>
          <a:p>
            <a:pPr algn="just">
              <a:buFont typeface="Arial" panose="020B0604020202020204" pitchFamily="34" charset="0"/>
              <a:buChar char="•"/>
            </a:pPr>
            <a:r>
              <a:rPr lang="en-US" altLang="en-US" sz="1800" dirty="0">
                <a:solidFill>
                  <a:schemeClr val="tx1"/>
                </a:solidFill>
                <a:latin typeface="Arial" panose="020B0604020202020204" pitchFamily="34" charset="0"/>
              </a:rPr>
              <a:t>Nearshoring vs. offshoring decisions (Geo-</a:t>
            </a:r>
            <a:r>
              <a:rPr lang="en-US" altLang="en-US" sz="1800" dirty="0" err="1">
                <a:solidFill>
                  <a:schemeClr val="tx1"/>
                </a:solidFill>
                <a:latin typeface="Arial" panose="020B0604020202020204" pitchFamily="34" charset="0"/>
              </a:rPr>
              <a:t>Poliitics</a:t>
            </a:r>
            <a:r>
              <a:rPr lang="en-US" altLang="en-US" sz="1800" dirty="0">
                <a:solidFill>
                  <a:schemeClr val="tx1"/>
                </a:solidFill>
                <a:latin typeface="Arial" panose="020B0604020202020204" pitchFamily="34" charset="0"/>
              </a:rPr>
              <a:t>) </a:t>
            </a:r>
          </a:p>
          <a:p>
            <a:pPr algn="just">
              <a:buFont typeface="Arial" panose="020B0604020202020204" pitchFamily="34" charset="0"/>
              <a:buChar char="•"/>
            </a:pPr>
            <a:r>
              <a:rPr lang="en-US" altLang="en-US" sz="1800" dirty="0">
                <a:solidFill>
                  <a:schemeClr val="tx1"/>
                </a:solidFill>
                <a:latin typeface="Arial" panose="020B0604020202020204" pitchFamily="34" charset="0"/>
              </a:rPr>
              <a:t>Ethical sourcing vs. cost pressures </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indent="0">
              <a:buNone/>
            </a:pPr>
            <a:endParaRPr lang="en-US" sz="1400" dirty="0"/>
          </a:p>
        </p:txBody>
      </p:sp>
      <p:sp>
        <p:nvSpPr>
          <p:cNvPr id="15" name="Content Placeholder 14">
            <a:extLst>
              <a:ext uri="{FF2B5EF4-FFF2-40B4-BE49-F238E27FC236}">
                <a16:creationId xmlns:a16="http://schemas.microsoft.com/office/drawing/2014/main" id="{B038BC6B-797F-5487-75BD-411336F740B9}"/>
              </a:ext>
            </a:extLst>
          </p:cNvPr>
          <p:cNvSpPr>
            <a:spLocks noGrp="1"/>
          </p:cNvSpPr>
          <p:nvPr>
            <p:ph sz="half" idx="2"/>
          </p:nvPr>
        </p:nvSpPr>
        <p:spPr>
          <a:xfrm>
            <a:off x="6019800" y="1493521"/>
            <a:ext cx="5684520" cy="4988560"/>
          </a:xfrm>
        </p:spPr>
        <p:txBody>
          <a:bodyPr>
            <a:normAutofit fontScale="77500" lnSpcReduction="20000"/>
          </a:bodyPr>
          <a:lstStyle/>
          <a:p>
            <a:pPr algn="just">
              <a:buFont typeface="Arial" panose="020B0604020202020204" pitchFamily="34" charset="0"/>
              <a:buChar char="•"/>
            </a:pPr>
            <a:r>
              <a:rPr lang="en-US" altLang="en-US" sz="2600" dirty="0">
                <a:solidFill>
                  <a:schemeClr val="tx1"/>
                </a:solidFill>
                <a:latin typeface="Arial" panose="020B0604020202020204" pitchFamily="34" charset="0"/>
              </a:rPr>
              <a:t>Operations collapse due to single-supplier dependency (Indigo DGCA crisis)</a:t>
            </a:r>
          </a:p>
          <a:p>
            <a:pPr algn="just">
              <a:buFont typeface="Arial" panose="020B0604020202020204" pitchFamily="34" charset="0"/>
              <a:buChar char="•"/>
            </a:pPr>
            <a:r>
              <a:rPr lang="en-US" altLang="en-US" sz="2600" dirty="0">
                <a:solidFill>
                  <a:schemeClr val="tx1"/>
                </a:solidFill>
                <a:latin typeface="Arial" panose="020B0604020202020204" pitchFamily="34" charset="0"/>
              </a:rPr>
              <a:t>Failed ERP or digital transformation despite heavy investment </a:t>
            </a:r>
          </a:p>
          <a:p>
            <a:pPr algn="just">
              <a:buFont typeface="Arial" panose="020B0604020202020204" pitchFamily="34" charset="0"/>
              <a:buChar char="•"/>
            </a:pPr>
            <a:r>
              <a:rPr lang="en-US" altLang="en-US" sz="2600" dirty="0">
                <a:solidFill>
                  <a:schemeClr val="tx1"/>
                </a:solidFill>
                <a:latin typeface="Arial" panose="020B0604020202020204" pitchFamily="34" charset="0"/>
              </a:rPr>
              <a:t>AI adoption without internal capability or governance </a:t>
            </a:r>
          </a:p>
          <a:p>
            <a:pPr algn="just">
              <a:buFont typeface="Arial" panose="020B0604020202020204" pitchFamily="34" charset="0"/>
              <a:buChar char="•"/>
            </a:pPr>
            <a:r>
              <a:rPr lang="en-US" altLang="en-US" sz="2600" dirty="0">
                <a:solidFill>
                  <a:schemeClr val="tx1"/>
                </a:solidFill>
                <a:latin typeface="Arial" panose="020B0604020202020204" pitchFamily="34" charset="0"/>
              </a:rPr>
              <a:t>High-growth firm burning cash under investor pressure </a:t>
            </a:r>
          </a:p>
          <a:p>
            <a:pPr algn="just">
              <a:buFont typeface="Arial" panose="020B0604020202020204" pitchFamily="34" charset="0"/>
              <a:buChar char="•"/>
            </a:pPr>
            <a:r>
              <a:rPr lang="en-US" altLang="en-US" sz="2600" dirty="0">
                <a:solidFill>
                  <a:schemeClr val="tx1"/>
                </a:solidFill>
                <a:latin typeface="Arial" panose="020B0604020202020204" pitchFamily="34" charset="0"/>
              </a:rPr>
              <a:t>M&amp;A deal justified strategically but failing financially </a:t>
            </a:r>
          </a:p>
          <a:p>
            <a:pPr algn="just">
              <a:buFont typeface="Arial" panose="020B0604020202020204" pitchFamily="34" charset="0"/>
              <a:buChar char="•"/>
            </a:pPr>
            <a:r>
              <a:rPr lang="en-US" altLang="en-US" sz="2600" dirty="0">
                <a:solidFill>
                  <a:schemeClr val="tx1"/>
                </a:solidFill>
                <a:latin typeface="Arial" panose="020B0604020202020204" pitchFamily="34" charset="0"/>
              </a:rPr>
              <a:t>Capital allocation dilemmas during uncertainty </a:t>
            </a:r>
          </a:p>
          <a:p>
            <a:pPr algn="just">
              <a:buFont typeface="Arial" panose="020B0604020202020204" pitchFamily="34" charset="0"/>
              <a:buChar char="•"/>
            </a:pPr>
            <a:r>
              <a:rPr lang="en-US" altLang="en-US" sz="2600" dirty="0">
                <a:solidFill>
                  <a:schemeClr val="tx1"/>
                </a:solidFill>
                <a:latin typeface="Arial" panose="020B0604020202020204" pitchFamily="34" charset="0"/>
              </a:rPr>
              <a:t> </a:t>
            </a:r>
            <a:r>
              <a:rPr lang="en-US" sz="2600" dirty="0">
                <a:solidFill>
                  <a:schemeClr val="tx1"/>
                </a:solidFill>
                <a:latin typeface="Arial" panose="020B0604020202020204" pitchFamily="34" charset="0"/>
              </a:rPr>
              <a:t>Artificial Intelligence and Automation</a:t>
            </a:r>
            <a:r>
              <a:rPr lang="en-IN" sz="2600" dirty="0">
                <a:solidFill>
                  <a:schemeClr val="tx1"/>
                </a:solidFill>
                <a:latin typeface="Arial" panose="020B0604020202020204" pitchFamily="34" charset="0"/>
              </a:rPr>
              <a:t> rush (</a:t>
            </a:r>
            <a:r>
              <a:rPr lang="en-US" sz="2600" dirty="0">
                <a:solidFill>
                  <a:schemeClr val="tx1"/>
                </a:solidFill>
                <a:latin typeface="Arial" panose="020B0604020202020204" pitchFamily="34" charset="0"/>
              </a:rPr>
              <a:t>Ethical sidestepping ?)</a:t>
            </a:r>
          </a:p>
          <a:p>
            <a:pPr algn="just">
              <a:buFont typeface="Arial" panose="020B0604020202020204" pitchFamily="34" charset="0"/>
              <a:buChar char="•"/>
            </a:pPr>
            <a:r>
              <a:rPr lang="en-IN" sz="2600" dirty="0">
                <a:solidFill>
                  <a:schemeClr val="tx1"/>
                </a:solidFill>
                <a:latin typeface="Arial" panose="020B0604020202020204" pitchFamily="34" charset="0"/>
              </a:rPr>
              <a:t>Fashion and sustainability (Louis Vuitton and other luxury brands)</a:t>
            </a:r>
          </a:p>
          <a:p>
            <a:endParaRPr lang="en-IN" dirty="0"/>
          </a:p>
        </p:txBody>
      </p:sp>
    </p:spTree>
    <p:extLst>
      <p:ext uri="{BB962C8B-B14F-4D97-AF65-F5344CB8AC3E}">
        <p14:creationId xmlns:p14="http://schemas.microsoft.com/office/powerpoint/2010/main" val="3122407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A96B67-3779-DFA6-D0CB-428D4713CE3D}"/>
              </a:ext>
            </a:extLst>
          </p:cNvPr>
          <p:cNvSpPr>
            <a:spLocks noGrp="1"/>
          </p:cNvSpPr>
          <p:nvPr>
            <p:ph type="title"/>
          </p:nvPr>
        </p:nvSpPr>
        <p:spPr/>
        <p:txBody>
          <a:bodyPr/>
          <a:lstStyle/>
          <a:p>
            <a:r>
              <a:rPr lang="en-IN" dirty="0">
                <a:latin typeface="Times New Roman" panose="02020603050405020304" pitchFamily="18" charset="0"/>
                <a:ea typeface="Calibri" panose="020F0502020204030204" pitchFamily="34" charset="0"/>
              </a:rPr>
              <a:t>Identifying a Research Problem</a:t>
            </a:r>
            <a:br>
              <a:rPr lang="en-IN" dirty="0">
                <a:latin typeface="Times New Roman" panose="02020603050405020304" pitchFamily="18" charset="0"/>
                <a:ea typeface="Calibri" panose="020F0502020204030204" pitchFamily="34" charset="0"/>
              </a:rPr>
            </a:br>
            <a:endParaRPr lang="en-IN" dirty="0"/>
          </a:p>
        </p:txBody>
      </p:sp>
      <p:sp>
        <p:nvSpPr>
          <p:cNvPr id="5" name="Content Placeholder 4">
            <a:extLst>
              <a:ext uri="{FF2B5EF4-FFF2-40B4-BE49-F238E27FC236}">
                <a16:creationId xmlns:a16="http://schemas.microsoft.com/office/drawing/2014/main" id="{17D3CF60-0D47-47F0-C7B4-466AEBC9E1B8}"/>
              </a:ext>
            </a:extLst>
          </p:cNvPr>
          <p:cNvSpPr>
            <a:spLocks noGrp="1"/>
          </p:cNvSpPr>
          <p:nvPr>
            <p:ph idx="1"/>
          </p:nvPr>
        </p:nvSpPr>
        <p:spPr>
          <a:xfrm>
            <a:off x="1143000" y="1282262"/>
            <a:ext cx="9906000" cy="5230298"/>
          </a:xfrm>
        </p:spPr>
        <p:txBody>
          <a:bodyPr>
            <a:normAutofit fontScale="32500" lnSpcReduction="20000"/>
          </a:bodyPr>
          <a:lstStyle/>
          <a:p>
            <a:pPr marL="342900" lvl="0" indent="-342900" algn="just">
              <a:buSzPts val="1000"/>
              <a:buFont typeface="+mj-lt"/>
              <a:buAutoNum type="arabicPeriod"/>
              <a:tabLst>
                <a:tab pos="228600" algn="l"/>
              </a:tabLst>
            </a:pPr>
            <a:endParaRPr lang="en-IN" sz="1800" dirty="0">
              <a:effectLst/>
              <a:latin typeface="Times New Roman" panose="02020603050405020304" pitchFamily="18" charset="0"/>
              <a:ea typeface="Times New Roman" panose="02020603050405020304" pitchFamily="18" charset="0"/>
            </a:endParaRPr>
          </a:p>
          <a:p>
            <a:pPr marL="342900" lvl="0" indent="-342900">
              <a:lnSpc>
                <a:spcPct val="120000"/>
              </a:lnSpc>
              <a:spcAft>
                <a:spcPts val="800"/>
              </a:spcAft>
              <a:buSzPts val="1000"/>
              <a:buFont typeface="Symbol" panose="05050102010706020507" pitchFamily="18" charset="2"/>
              <a:buChar char=""/>
              <a:tabLst>
                <a:tab pos="457200" algn="l"/>
              </a:tabLst>
            </a:pP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The central issue that the case study seeks to address. </a:t>
            </a:r>
          </a:p>
          <a:p>
            <a:pPr marL="342900" lvl="0" indent="-342900">
              <a:lnSpc>
                <a:spcPct val="120000"/>
              </a:lnSpc>
              <a:spcAft>
                <a:spcPts val="800"/>
              </a:spcAft>
              <a:buSzPts val="1000"/>
              <a:buFont typeface="Symbol" panose="05050102010706020507" pitchFamily="18" charset="2"/>
              <a:buChar char=""/>
              <a:tabLst>
                <a:tab pos="457200" algn="l"/>
              </a:tabLst>
            </a:pPr>
            <a:r>
              <a:rPr lang="en-IN" sz="6400" b="1" dirty="0">
                <a:effectLst/>
                <a:latin typeface="Times New Roman" panose="02020603050405020304" pitchFamily="18" charset="0"/>
                <a:ea typeface="Times New Roman" panose="02020603050405020304" pitchFamily="18" charset="0"/>
                <a:cs typeface="Times New Roman" panose="02020603050405020304" pitchFamily="18" charset="0"/>
              </a:rPr>
              <a:t>Key Considerations:</a:t>
            </a: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742950" lvl="1" indent="-285750">
              <a:lnSpc>
                <a:spcPct val="120000"/>
              </a:lnSpc>
              <a:spcAft>
                <a:spcPts val="800"/>
              </a:spcAft>
              <a:buSzPts val="1000"/>
              <a:buFont typeface="Courier New" panose="02070309020205020404" pitchFamily="49" charset="0"/>
              <a:buChar char="o"/>
              <a:tabLst>
                <a:tab pos="914400" algn="l"/>
              </a:tabLst>
            </a:pP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Is it clear? </a:t>
            </a:r>
          </a:p>
          <a:p>
            <a:pPr marL="742950" lvl="1" indent="-285750">
              <a:lnSpc>
                <a:spcPct val="120000"/>
              </a:lnSpc>
              <a:spcAft>
                <a:spcPts val="800"/>
              </a:spcAft>
              <a:buSzPts val="1000"/>
              <a:buFont typeface="Courier New" panose="02070309020205020404" pitchFamily="49" charset="0"/>
              <a:buChar char="o"/>
              <a:tabLst>
                <a:tab pos="914400" algn="l"/>
              </a:tabLst>
            </a:pP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Is it still relevant and recent? </a:t>
            </a:r>
          </a:p>
          <a:p>
            <a:pPr marL="742950" lvl="1" indent="-285750">
              <a:lnSpc>
                <a:spcPct val="120000"/>
              </a:lnSpc>
              <a:spcAft>
                <a:spcPts val="800"/>
              </a:spcAft>
              <a:buSzPts val="1000"/>
              <a:buFont typeface="Courier New" panose="02070309020205020404" pitchFamily="49" charset="0"/>
              <a:buChar char="o"/>
              <a:tabLst>
                <a:tab pos="914400" algn="l"/>
              </a:tabLst>
            </a:pP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Is it Novel? </a:t>
            </a:r>
          </a:p>
          <a:p>
            <a:pPr marL="742950" lvl="1" indent="-285750">
              <a:lnSpc>
                <a:spcPct val="120000"/>
              </a:lnSpc>
              <a:spcAft>
                <a:spcPts val="800"/>
              </a:spcAft>
              <a:buSzPts val="1000"/>
              <a:buFont typeface="Courier New" panose="02070309020205020404" pitchFamily="49" charset="0"/>
              <a:buChar char="o"/>
              <a:tabLst>
                <a:tab pos="914400" algn="l"/>
              </a:tabLst>
            </a:pP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Is it interesting?</a:t>
            </a:r>
          </a:p>
          <a:p>
            <a:pPr marL="742950" lvl="1" indent="-285750">
              <a:lnSpc>
                <a:spcPct val="120000"/>
              </a:lnSpc>
              <a:spcAft>
                <a:spcPts val="800"/>
              </a:spcAft>
              <a:buSzPts val="1000"/>
              <a:buFont typeface="Courier New" panose="02070309020205020404" pitchFamily="49" charset="0"/>
              <a:buChar char="o"/>
              <a:tabLst>
                <a:tab pos="914400" algn="l"/>
              </a:tabLst>
            </a:pP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What’s the scope and Impact?</a:t>
            </a:r>
          </a:p>
          <a:p>
            <a:pPr marL="742950" lvl="1" indent="-285750">
              <a:lnSpc>
                <a:spcPct val="120000"/>
              </a:lnSpc>
              <a:spcAft>
                <a:spcPts val="800"/>
              </a:spcAft>
              <a:buSzPts val="1000"/>
              <a:buFont typeface="Courier New" panose="02070309020205020404" pitchFamily="49" charset="0"/>
              <a:buChar char="o"/>
              <a:tabLst>
                <a:tab pos="914400" algn="l"/>
              </a:tabLst>
            </a:pPr>
            <a:r>
              <a:rPr lang="en-IN" sz="6400" dirty="0">
                <a:latin typeface="Times New Roman" panose="02020603050405020304" pitchFamily="18" charset="0"/>
                <a:ea typeface="Times New Roman" panose="02020603050405020304" pitchFamily="18" charset="0"/>
                <a:cs typeface="Times New Roman" panose="02020603050405020304" pitchFamily="18" charset="0"/>
              </a:rPr>
              <a:t>Primary / Secondary Source case? </a:t>
            </a:r>
            <a:r>
              <a:rPr lang="en-IN" sz="6400" dirty="0">
                <a:effectLst/>
                <a:latin typeface="Times New Roman" panose="02020603050405020304" pitchFamily="18" charset="0"/>
                <a:ea typeface="Times New Roman" panose="02020603050405020304" pitchFamily="18" charset="0"/>
                <a:cs typeface="Times New Roman" panose="02020603050405020304" pitchFamily="18" charset="0"/>
              </a:rPr>
              <a:t>Hypothetical case?</a:t>
            </a:r>
          </a:p>
          <a:p>
            <a:pPr marL="742950" lvl="1" indent="-285750">
              <a:lnSpc>
                <a:spcPct val="120000"/>
              </a:lnSpc>
              <a:spcAft>
                <a:spcPts val="800"/>
              </a:spcAft>
              <a:buSzPts val="1000"/>
              <a:buFont typeface="Courier New" panose="02070309020205020404" pitchFamily="49" charset="0"/>
              <a:buChar char="o"/>
              <a:tabLst>
                <a:tab pos="914400" algn="l"/>
              </a:tabLst>
            </a:pPr>
            <a:r>
              <a:rPr lang="en-IN" sz="6400" dirty="0">
                <a:latin typeface="Times New Roman" panose="02020603050405020304" pitchFamily="18" charset="0"/>
                <a:ea typeface="Times New Roman" panose="02020603050405020304" pitchFamily="18" charset="0"/>
                <a:cs typeface="Times New Roman" panose="02020603050405020304" pitchFamily="18" charset="0"/>
              </a:rPr>
              <a:t>Is data available?</a:t>
            </a:r>
            <a:endParaRPr lang="en-IN" sz="6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98009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143000" y="208281"/>
            <a:ext cx="9906000" cy="787399"/>
          </a:xfrm>
          <a:noFill/>
        </p:spPr>
        <p:txBody>
          <a:bodyPr>
            <a:normAutofit/>
          </a:bodyPr>
          <a:lstStyle/>
          <a:p>
            <a:r>
              <a:rPr lang="en-US" sz="3600" b="1" dirty="0"/>
              <a:t>How to structure your case?</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idx="1"/>
          </p:nvPr>
        </p:nvSpPr>
        <p:spPr>
          <a:xfrm>
            <a:off x="599440" y="1259841"/>
            <a:ext cx="10449560" cy="4774138"/>
          </a:xfrm>
          <a:solidFill>
            <a:schemeClr val="bg1"/>
          </a:solidFill>
        </p:spPr>
        <p:txBody>
          <a:bodyPr>
            <a:normAutofit fontScale="92500" lnSpcReduction="10000"/>
          </a:bodyPr>
          <a:lstStyle/>
          <a:p>
            <a:r>
              <a:rPr lang="en-US" sz="1800" b="1" dirty="0">
                <a:latin typeface="Times New Roman" panose="02020603050405020304" pitchFamily="18" charset="0"/>
                <a:cs typeface="Times New Roman" panose="02020603050405020304" pitchFamily="18" charset="0"/>
              </a:rPr>
              <a:t>Opening Paragraph </a:t>
            </a:r>
          </a:p>
          <a:p>
            <a:pPr lvl="1"/>
            <a:r>
              <a:rPr lang="en-US" sz="1800" b="1" dirty="0">
                <a:latin typeface="Times New Roman" panose="02020603050405020304" pitchFamily="18" charset="0"/>
                <a:cs typeface="Times New Roman" panose="02020603050405020304" pitchFamily="18" charset="0"/>
              </a:rPr>
              <a:t>Address the 5 </a:t>
            </a:r>
            <a:r>
              <a:rPr lang="en-US" sz="1800" b="1" dirty="0" err="1">
                <a:latin typeface="Times New Roman" panose="02020603050405020304" pitchFamily="18" charset="0"/>
                <a:cs typeface="Times New Roman" panose="02020603050405020304" pitchFamily="18" charset="0"/>
              </a:rPr>
              <a:t>Ws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(What, Who, When, Where, Why)</a:t>
            </a:r>
          </a:p>
          <a:p>
            <a:pPr lvl="1"/>
            <a:r>
              <a:rPr lang="en-US" sz="1800" dirty="0">
                <a:latin typeface="Times New Roman" panose="02020603050405020304" pitchFamily="18" charset="0"/>
                <a:cs typeface="Times New Roman" panose="02020603050405020304" pitchFamily="18" charset="0"/>
              </a:rPr>
              <a:t>The introduction should tell the readers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Who</a:t>
            </a:r>
            <a:r>
              <a:rPr lang="en-US" sz="1800" dirty="0">
                <a:latin typeface="Times New Roman" panose="02020603050405020304" pitchFamily="18" charset="0"/>
                <a:cs typeface="Times New Roman" panose="02020603050405020304" pitchFamily="18" charset="0"/>
              </a:rPr>
              <a:t> (the protagonist or company is), </a:t>
            </a:r>
            <a:r>
              <a:rPr lang="en-US" sz="1800" b="1" dirty="0">
                <a:latin typeface="Times New Roman" panose="02020603050405020304" pitchFamily="18" charset="0"/>
                <a:cs typeface="Times New Roman" panose="02020603050405020304" pitchFamily="18" charset="0"/>
              </a:rPr>
              <a:t>where</a:t>
            </a:r>
            <a:r>
              <a:rPr lang="en-US" sz="1800" dirty="0">
                <a:latin typeface="Times New Roman" panose="02020603050405020304" pitchFamily="18" charset="0"/>
                <a:cs typeface="Times New Roman" panose="02020603050405020304" pitchFamily="18" charset="0"/>
              </a:rPr>
              <a:t> (they are located), </a:t>
            </a:r>
            <a:r>
              <a:rPr lang="en-US" sz="1800" b="1" dirty="0">
                <a:latin typeface="Times New Roman" panose="02020603050405020304" pitchFamily="18" charset="0"/>
                <a:cs typeface="Times New Roman" panose="02020603050405020304" pitchFamily="18" charset="0"/>
              </a:rPr>
              <a:t>what</a:t>
            </a:r>
            <a:r>
              <a:rPr lang="en-US" sz="1800" dirty="0">
                <a:latin typeface="Times New Roman" panose="02020603050405020304" pitchFamily="18" charset="0"/>
                <a:cs typeface="Times New Roman" panose="02020603050405020304" pitchFamily="18" charset="0"/>
              </a:rPr>
              <a:t> (the company does, and what challenges or opportunities it now faces, as well as the stakes), </a:t>
            </a:r>
            <a:r>
              <a:rPr lang="en-US" sz="1800" b="1" dirty="0">
                <a:latin typeface="Times New Roman" panose="02020603050405020304" pitchFamily="18" charset="0"/>
                <a:cs typeface="Times New Roman" panose="02020603050405020304" pitchFamily="18" charset="0"/>
              </a:rPr>
              <a:t>why</a:t>
            </a:r>
            <a:r>
              <a:rPr lang="en-US" sz="1800" dirty="0">
                <a:latin typeface="Times New Roman" panose="02020603050405020304" pitchFamily="18" charset="0"/>
                <a:cs typeface="Times New Roman" panose="02020603050405020304" pitchFamily="18" charset="0"/>
              </a:rPr>
              <a:t> (the upcoming decision is important or necessary), </a:t>
            </a:r>
            <a:r>
              <a:rPr lang="en-US" sz="1800" b="1" dirty="0">
                <a:latin typeface="Times New Roman" panose="02020603050405020304" pitchFamily="18" charset="0"/>
                <a:cs typeface="Times New Roman" panose="02020603050405020304" pitchFamily="18" charset="0"/>
              </a:rPr>
              <a:t>how</a:t>
            </a:r>
            <a:r>
              <a:rPr lang="en-US" sz="1800" dirty="0">
                <a:latin typeface="Times New Roman" panose="02020603050405020304" pitchFamily="18" charset="0"/>
                <a:cs typeface="Times New Roman" panose="02020603050405020304" pitchFamily="18" charset="0"/>
              </a:rPr>
              <a:t> the company thinks it might tackle the issue at hand (do not give answers; provide alternatives); and </a:t>
            </a:r>
            <a:r>
              <a:rPr lang="en-US" sz="1800" b="1" dirty="0">
                <a:latin typeface="Times New Roman" panose="02020603050405020304" pitchFamily="18" charset="0"/>
                <a:cs typeface="Times New Roman" panose="02020603050405020304" pitchFamily="18" charset="0"/>
              </a:rPr>
              <a:t>when</a:t>
            </a:r>
            <a:r>
              <a:rPr lang="en-US" sz="1800" dirty="0">
                <a:latin typeface="Times New Roman" panose="02020603050405020304" pitchFamily="18" charset="0"/>
                <a:cs typeface="Times New Roman" panose="02020603050405020304" pitchFamily="18" charset="0"/>
              </a:rPr>
              <a:t> (the decision is being made),  though not necessarily in this order.</a:t>
            </a:r>
          </a:p>
          <a:p>
            <a:r>
              <a:rPr lang="en-US" sz="1800" b="1" dirty="0">
                <a:latin typeface="Times New Roman" panose="02020603050405020304" pitchFamily="18" charset="0"/>
                <a:cs typeface="Times New Roman" panose="02020603050405020304" pitchFamily="18" charset="0"/>
              </a:rPr>
              <a:t>Body of the Case (Story) </a:t>
            </a:r>
          </a:p>
          <a:p>
            <a:pPr lvl="1"/>
            <a:r>
              <a:rPr lang="en-US" sz="1800" dirty="0">
                <a:latin typeface="Times New Roman" panose="02020603050405020304" pitchFamily="18" charset="0"/>
                <a:cs typeface="Times New Roman" panose="02020603050405020304" pitchFamily="18" charset="0"/>
              </a:rPr>
              <a:t>Tell the story : in a chronological manner</a:t>
            </a:r>
          </a:p>
          <a:p>
            <a:pPr lvl="1"/>
            <a:r>
              <a:rPr lang="en-US" sz="1800" dirty="0">
                <a:latin typeface="Times New Roman" panose="02020603050405020304" pitchFamily="18" charset="0"/>
                <a:cs typeface="Times New Roman" panose="02020603050405020304" pitchFamily="18" charset="0"/>
              </a:rPr>
              <a:t>Should have a general (industry) background, company background, details of the specific issue being faced</a:t>
            </a:r>
          </a:p>
          <a:p>
            <a:pPr lvl="1"/>
            <a:r>
              <a:rPr lang="en-US" sz="1800" dirty="0">
                <a:latin typeface="Times New Roman" panose="02020603050405020304" pitchFamily="18" charset="0"/>
                <a:cs typeface="Times New Roman" panose="02020603050405020304" pitchFamily="18" charset="0"/>
              </a:rPr>
              <a:t>Give more than one side of the story</a:t>
            </a:r>
          </a:p>
          <a:p>
            <a:r>
              <a:rPr lang="en-US" sz="1800" b="1" dirty="0">
                <a:latin typeface="Times New Roman" panose="02020603050405020304" pitchFamily="18" charset="0"/>
                <a:cs typeface="Times New Roman" panose="02020603050405020304" pitchFamily="18" charset="0"/>
              </a:rPr>
              <a:t>Concluding Para</a:t>
            </a:r>
          </a:p>
          <a:p>
            <a:pPr lvl="1"/>
            <a:r>
              <a:rPr lang="en-US" sz="1800" dirty="0">
                <a:latin typeface="Times New Roman" panose="02020603050405020304" pitchFamily="18" charset="0"/>
                <a:cs typeface="Times New Roman" panose="02020603050405020304" pitchFamily="18" charset="0"/>
              </a:rPr>
              <a:t>Give the synthesis of the story with the main problem and some more info if required</a:t>
            </a:r>
          </a:p>
          <a:p>
            <a:r>
              <a:rPr lang="en-US" sz="1800" b="1" dirty="0">
                <a:latin typeface="Times New Roman" panose="02020603050405020304" pitchFamily="18" charset="0"/>
                <a:cs typeface="Times New Roman" panose="02020603050405020304" pitchFamily="18" charset="0"/>
              </a:rPr>
              <a:t>Exhibits </a:t>
            </a:r>
          </a:p>
          <a:p>
            <a:pPr lvl="1"/>
            <a:r>
              <a:rPr lang="en-US" sz="1800" dirty="0">
                <a:latin typeface="Times New Roman" panose="02020603050405020304" pitchFamily="18" charset="0"/>
                <a:cs typeface="Times New Roman" panose="02020603050405020304" pitchFamily="18" charset="0"/>
              </a:rPr>
              <a:t>Give information required to discuss the case (Mention See/refer exhibit 1,2,3 etc.)</a:t>
            </a:r>
          </a:p>
        </p:txBody>
      </p:sp>
    </p:spTree>
    <p:extLst>
      <p:ext uri="{BB962C8B-B14F-4D97-AF65-F5344CB8AC3E}">
        <p14:creationId xmlns:p14="http://schemas.microsoft.com/office/powerpoint/2010/main" val="83740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2D8E9-ECD0-52B1-8DC0-4613C5D0D435}"/>
              </a:ext>
            </a:extLst>
          </p:cNvPr>
          <p:cNvSpPr>
            <a:spLocks noGrp="1"/>
          </p:cNvSpPr>
          <p:nvPr>
            <p:ph type="title"/>
          </p:nvPr>
        </p:nvSpPr>
        <p:spPr>
          <a:xfrm>
            <a:off x="294289" y="533401"/>
            <a:ext cx="11372193" cy="1382156"/>
          </a:xfrm>
        </p:spPr>
        <p:txBody>
          <a:bodyPr>
            <a:normAutofit/>
          </a:bodyPr>
          <a:lstStyle/>
          <a:p>
            <a:r>
              <a:rPr lang="en-IN" sz="4400" dirty="0">
                <a:effectLst/>
                <a:latin typeface="Times New Roman" panose="02020603050405020304" pitchFamily="18" charset="0"/>
                <a:ea typeface="Times New Roman" panose="02020603050405020304" pitchFamily="18" charset="0"/>
                <a:cs typeface="Times New Roman" panose="02020603050405020304" pitchFamily="18" charset="0"/>
              </a:rPr>
              <a:t>Making a Strong Opening Statement</a:t>
            </a:r>
            <a:br>
              <a:rPr lang="en-IN" sz="44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D2E6C2B-78F3-AD15-1EAA-776BDA22D3A0}"/>
              </a:ext>
            </a:extLst>
          </p:cNvPr>
          <p:cNvSpPr>
            <a:spLocks noGrp="1"/>
          </p:cNvSpPr>
          <p:nvPr>
            <p:ph idx="1"/>
          </p:nvPr>
        </p:nvSpPr>
        <p:spPr/>
        <p:txBody>
          <a:bodyPr>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Engage the Reader:</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The opening statement should capture the reader’s attention and set the stage for the case study. It should present the </a:t>
            </a:r>
            <a:r>
              <a:rPr lang="en-IN" sz="1800" b="1" u="sng" dirty="0">
                <a:effectLst/>
                <a:latin typeface="Times New Roman" panose="02020603050405020304" pitchFamily="18" charset="0"/>
                <a:ea typeface="Times New Roman" panose="02020603050405020304" pitchFamily="18" charset="0"/>
                <a:cs typeface="Times New Roman" panose="02020603050405020304" pitchFamily="18" charset="0"/>
              </a:rPr>
              <a:t>core issue</a:t>
            </a:r>
            <a:r>
              <a:rPr lang="en-IN" sz="1800" u="sng" dirty="0">
                <a:effectLst/>
                <a:latin typeface="Times New Roman" panose="02020603050405020304" pitchFamily="18" charset="0"/>
                <a:ea typeface="Times New Roman" panose="02020603050405020304" pitchFamily="18" charset="0"/>
                <a:cs typeface="Times New Roman" panose="02020603050405020304" pitchFamily="18" charset="0"/>
              </a:rPr>
              <a:t> or </a:t>
            </a:r>
            <a:r>
              <a:rPr lang="en-IN" sz="1800" b="1" u="sng" dirty="0">
                <a:effectLst/>
                <a:latin typeface="Times New Roman" panose="02020603050405020304" pitchFamily="18" charset="0"/>
                <a:ea typeface="Times New Roman" panose="02020603050405020304" pitchFamily="18" charset="0"/>
                <a:cs typeface="Times New Roman" panose="02020603050405020304" pitchFamily="18" charset="0"/>
              </a:rPr>
              <a:t>challenge</a:t>
            </a:r>
            <a:r>
              <a:rPr lang="en-IN" sz="1800" u="sng"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in a compelling way, creating a sense of urgency or intrigue.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Contextualization: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Provide some </a:t>
            </a:r>
            <a:r>
              <a:rPr lang="en-IN" sz="1800" b="1" u="sng" dirty="0">
                <a:effectLst/>
                <a:latin typeface="Times New Roman" panose="02020603050405020304" pitchFamily="18" charset="0"/>
                <a:ea typeface="Times New Roman" panose="02020603050405020304" pitchFamily="18" charset="0"/>
                <a:cs typeface="Times New Roman" panose="02020603050405020304" pitchFamily="18" charset="0"/>
              </a:rPr>
              <a:t>background information</a:t>
            </a:r>
            <a:r>
              <a:rPr lang="en-IN" sz="1800" u="sng"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about the company, organization, or individual involved in the case. This sets the context for understanding the case's significance.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Framing the Problem:</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Introduce the </a:t>
            </a:r>
            <a:r>
              <a:rPr lang="en-IN" sz="1800" b="1" u="sng" dirty="0">
                <a:effectLst/>
                <a:latin typeface="Times New Roman" panose="02020603050405020304" pitchFamily="18" charset="0"/>
                <a:ea typeface="Times New Roman" panose="02020603050405020304" pitchFamily="18" charset="0"/>
                <a:cs typeface="Times New Roman" panose="02020603050405020304" pitchFamily="18" charset="0"/>
              </a:rPr>
              <a:t>central research problem</a:t>
            </a:r>
            <a:r>
              <a:rPr lang="en-IN" sz="1800" u="sng"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in a way that clearly indicates its importance.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1471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143000" y="304801"/>
            <a:ext cx="9906000" cy="660399"/>
          </a:xfrm>
          <a:noFill/>
        </p:spPr>
        <p:txBody>
          <a:bodyPr>
            <a:normAutofit/>
          </a:bodyPr>
          <a:lstStyle/>
          <a:p>
            <a:r>
              <a:rPr lang="en-US" sz="3600" b="1" dirty="0"/>
              <a:t>teaching note : Key Elements </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1143000" y="1267874"/>
            <a:ext cx="9906000" cy="4980526"/>
          </a:xfrm>
          <a:noFill/>
        </p:spPr>
        <p:txBody>
          <a:bodyPr>
            <a:normAutofit/>
          </a:bodyPr>
          <a:lstStyle/>
          <a:p>
            <a:r>
              <a:rPr lang="en-US" sz="1900" b="1" dirty="0">
                <a:latin typeface="Times New Roman" panose="02020603050405020304" pitchFamily="18" charset="0"/>
                <a:cs typeface="Times New Roman" panose="02020603050405020304" pitchFamily="18" charset="0"/>
              </a:rPr>
              <a:t>Synopsis </a:t>
            </a:r>
            <a:r>
              <a:rPr lang="en-US" sz="1900" dirty="0">
                <a:latin typeface="Times New Roman" panose="02020603050405020304" pitchFamily="18" charset="0"/>
                <a:cs typeface="Times New Roman" panose="02020603050405020304" pitchFamily="18" charset="0"/>
              </a:rPr>
              <a:t>: Describe the context, the dilemma / problem, the discipline (HR/Mktg./Finance/Ops etc.) and the level (UG/PG/Executive programs etc.) it is addressed to </a:t>
            </a:r>
          </a:p>
          <a:p>
            <a:r>
              <a:rPr lang="en-US" sz="1900" b="1" dirty="0">
                <a:latin typeface="Times New Roman" panose="02020603050405020304" pitchFamily="18" charset="0"/>
                <a:cs typeface="Times New Roman" panose="02020603050405020304" pitchFamily="18" charset="0"/>
              </a:rPr>
              <a:t>Learning Objectives : </a:t>
            </a:r>
            <a:r>
              <a:rPr lang="en-US" sz="1900" dirty="0">
                <a:latin typeface="Times New Roman" panose="02020603050405020304" pitchFamily="18" charset="0"/>
                <a:cs typeface="Times New Roman" panose="02020603050405020304" pitchFamily="18" charset="0"/>
              </a:rPr>
              <a:t>What are you teaching through this case/TN</a:t>
            </a:r>
          </a:p>
          <a:p>
            <a:r>
              <a:rPr lang="en-US" sz="1900" b="1" dirty="0">
                <a:latin typeface="Times New Roman" panose="02020603050405020304" pitchFamily="18" charset="0"/>
                <a:cs typeface="Times New Roman" panose="02020603050405020304" pitchFamily="18" charset="0"/>
              </a:rPr>
              <a:t>Research Method : </a:t>
            </a:r>
            <a:r>
              <a:rPr lang="en-US" sz="1900" dirty="0">
                <a:latin typeface="Times New Roman" panose="02020603050405020304" pitchFamily="18" charset="0"/>
                <a:cs typeface="Times New Roman" panose="02020603050405020304" pitchFamily="18" charset="0"/>
              </a:rPr>
              <a:t>What type of data was collected, why and from where.</a:t>
            </a:r>
          </a:p>
          <a:p>
            <a:r>
              <a:rPr lang="en-US" sz="1900" b="1" dirty="0">
                <a:latin typeface="Times New Roman" panose="02020603050405020304" pitchFamily="18" charset="0"/>
                <a:cs typeface="Times New Roman" panose="02020603050405020304" pitchFamily="18" charset="0"/>
              </a:rPr>
              <a:t>Teaching Plan : </a:t>
            </a:r>
            <a:r>
              <a:rPr lang="en-US" sz="1900" dirty="0">
                <a:latin typeface="Times New Roman" panose="02020603050405020304" pitchFamily="18" charset="0"/>
                <a:cs typeface="Times New Roman" panose="02020603050405020304" pitchFamily="18" charset="0"/>
              </a:rPr>
              <a:t>How this will be taught, a 90 mins plan with classroom activities </a:t>
            </a:r>
          </a:p>
          <a:p>
            <a:r>
              <a:rPr lang="en-US" sz="1900" b="1" dirty="0">
                <a:latin typeface="Times New Roman" panose="02020603050405020304" pitchFamily="18" charset="0"/>
                <a:cs typeface="Times New Roman" panose="02020603050405020304" pitchFamily="18" charset="0"/>
              </a:rPr>
              <a:t>Assignment questions </a:t>
            </a:r>
            <a:r>
              <a:rPr lang="en-US" sz="1900" dirty="0">
                <a:latin typeface="Times New Roman" panose="02020603050405020304" pitchFamily="18" charset="0"/>
                <a:cs typeface="Times New Roman" panose="02020603050405020304" pitchFamily="18" charset="0"/>
              </a:rPr>
              <a:t>with sample answers (aligned with the learning objectives)</a:t>
            </a:r>
          </a:p>
          <a:p>
            <a:r>
              <a:rPr lang="en-US" sz="1900" b="1" dirty="0">
                <a:latin typeface="Times New Roman" panose="02020603050405020304" pitchFamily="18" charset="0"/>
                <a:cs typeface="Times New Roman" panose="02020603050405020304" pitchFamily="18" charset="0"/>
              </a:rPr>
              <a:t>References </a:t>
            </a:r>
            <a:r>
              <a:rPr lang="en-US" sz="1900" dirty="0">
                <a:latin typeface="Times New Roman" panose="02020603050405020304" pitchFamily="18" charset="0"/>
                <a:cs typeface="Times New Roman" panose="02020603050405020304" pitchFamily="18" charset="0"/>
              </a:rPr>
              <a:t>: Include Readings, reports, articles, links etc. to read more about the challenge to help address it</a:t>
            </a:r>
          </a:p>
          <a:p>
            <a:r>
              <a:rPr lang="en-US" sz="1900" b="1" dirty="0">
                <a:latin typeface="Times New Roman" panose="02020603050405020304" pitchFamily="18" charset="0"/>
                <a:cs typeface="Times New Roman" panose="02020603050405020304" pitchFamily="18" charset="0"/>
              </a:rPr>
              <a:t>Online usage </a:t>
            </a:r>
            <a:r>
              <a:rPr lang="en-US" sz="1900" dirty="0">
                <a:latin typeface="Times New Roman" panose="02020603050405020304" pitchFamily="18" charset="0"/>
                <a:cs typeface="Times New Roman" panose="02020603050405020304" pitchFamily="18" charset="0"/>
              </a:rPr>
              <a:t>: Also add how this can be done online and modifications / additions to be made</a:t>
            </a:r>
          </a:p>
          <a:p>
            <a:endParaRPr lang="en-US" sz="1900" dirty="0">
              <a:latin typeface="Times New Roman" panose="02020603050405020304" pitchFamily="18" charset="0"/>
              <a:cs typeface="Times New Roman" panose="02020603050405020304" pitchFamily="18" charset="0"/>
            </a:endParaRPr>
          </a:p>
          <a:p>
            <a:pPr marL="0" indent="0">
              <a:buNone/>
            </a:pPr>
            <a:r>
              <a:rPr lang="en-US" sz="1900" b="1" dirty="0">
                <a:latin typeface="Times New Roman" panose="02020603050405020304" pitchFamily="18" charset="0"/>
                <a:cs typeface="Times New Roman" panose="02020603050405020304" pitchFamily="18" charset="0"/>
              </a:rPr>
              <a:t>Note : </a:t>
            </a:r>
            <a:r>
              <a:rPr lang="en-US" sz="1900" dirty="0">
                <a:latin typeface="Times New Roman" panose="02020603050405020304" pitchFamily="18" charset="0"/>
                <a:cs typeface="Times New Roman" panose="02020603050405020304" pitchFamily="18" charset="0"/>
              </a:rPr>
              <a:t>Teaching Notes are the ‘selling’ factor.  Write it well</a:t>
            </a:r>
            <a:r>
              <a:rPr lang="en-US" dirty="0"/>
              <a:t>.</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72960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82643-61E0-4B2B-A798-147B5A74263C}"/>
              </a:ext>
            </a:extLst>
          </p:cNvPr>
          <p:cNvSpPr>
            <a:spLocks noGrp="1"/>
          </p:cNvSpPr>
          <p:nvPr>
            <p:ph type="title"/>
          </p:nvPr>
        </p:nvSpPr>
        <p:spPr>
          <a:xfrm>
            <a:off x="252248" y="533401"/>
            <a:ext cx="11319642" cy="1382156"/>
          </a:xfrm>
        </p:spPr>
        <p:txBody>
          <a:bodyPr>
            <a:normAutofit fontScale="90000"/>
          </a:bodyPr>
          <a:lstStyle/>
          <a:p>
            <a:r>
              <a:rPr lang="en-IN" sz="4400" dirty="0">
                <a:effectLst/>
                <a:latin typeface="Times New Roman" panose="02020603050405020304" pitchFamily="18" charset="0"/>
                <a:ea typeface="Times New Roman" panose="02020603050405020304" pitchFamily="18" charset="0"/>
                <a:cs typeface="Times New Roman" panose="02020603050405020304" pitchFamily="18" charset="0"/>
              </a:rPr>
              <a:t>Connecting Findings to Business Theory</a:t>
            </a:r>
            <a:br>
              <a:rPr lang="en-IN" sz="44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8C03CFB-FDD0-A8C2-8304-F45CA10BB961}"/>
              </a:ext>
            </a:extLst>
          </p:cNvPr>
          <p:cNvSpPr>
            <a:spLocks noGrp="1"/>
          </p:cNvSpPr>
          <p:nvPr>
            <p:ph idx="1"/>
          </p:nvPr>
        </p:nvSpPr>
        <p:spPr>
          <a:xfrm>
            <a:off x="1143000" y="2009553"/>
            <a:ext cx="9906000" cy="4412267"/>
          </a:xfrm>
        </p:spPr>
        <p:txBody>
          <a:bodyPr>
            <a:normAutofit/>
          </a:bodyPr>
          <a:lstStyle/>
          <a:p>
            <a:pPr marL="0" indent="0" eaLnBrk="0" fontAlgn="base" hangingPunct="0">
              <a:spcBef>
                <a:spcPct val="0"/>
              </a:spcBef>
              <a:spcAft>
                <a:spcPct val="0"/>
              </a:spcAft>
              <a:buSzTx/>
              <a:buFontTx/>
              <a:buChar char="•"/>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Use relevant theories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such as </a:t>
            </a:r>
            <a:r>
              <a:rPr lang="en-IN" sz="1800" dirty="0">
                <a:latin typeface="Times New Roman" panose="02020603050405020304" pitchFamily="18" charset="0"/>
                <a:ea typeface="Times New Roman" panose="02020603050405020304" pitchFamily="18" charset="0"/>
                <a:cs typeface="Times New Roman" panose="02020603050405020304" pitchFamily="18" charset="0"/>
              </a:rPr>
              <a:t>Leadership styles,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Change Management Models, </a:t>
            </a:r>
            <a:r>
              <a:rPr lang="en-IN" sz="1800" dirty="0">
                <a:latin typeface="Times New Roman" panose="02020603050405020304" pitchFamily="18" charset="0"/>
                <a:ea typeface="Times New Roman" panose="02020603050405020304" pitchFamily="18" charset="0"/>
                <a:cs typeface="Times New Roman" panose="02020603050405020304" pitchFamily="18" charset="0"/>
              </a:rPr>
              <a:t>PESTLE framework, </a:t>
            </a:r>
          </a:p>
          <a:p>
            <a:pPr marL="0" indent="0" eaLnBrk="0" fontAlgn="base" hangingPunct="0">
              <a:spcBef>
                <a:spcPct val="0"/>
              </a:spcBef>
              <a:spcAft>
                <a:spcPct val="0"/>
              </a:spcAft>
              <a:buSzTx/>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Porter’s Five Forces, Supply Chain models,</a:t>
            </a:r>
            <a:r>
              <a:rPr lang="en-US" altLang="en-US" sz="1800" dirty="0">
                <a:latin typeface="Times New Roman" panose="02020603050405020304" pitchFamily="18" charset="0"/>
                <a:cs typeface="Times New Roman" panose="02020603050405020304" pitchFamily="18" charset="0"/>
              </a:rPr>
              <a:t>Agency Theory/Stewardship Theory/Stakeholder Theory, </a:t>
            </a:r>
            <a:r>
              <a:rPr lang="en-IN" sz="1800" dirty="0">
                <a:latin typeface="Times New Roman" panose="02020603050405020304" pitchFamily="18" charset="0"/>
                <a:cs typeface="Times New Roman" panose="02020603050405020304" pitchFamily="18" charset="0"/>
              </a:rPr>
              <a:t>Charismatic Leadership, ESG theory</a:t>
            </a:r>
            <a:r>
              <a:rPr lang="en-US" alt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etc</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to explain the actions taken by the company in the case study. Not more than 1-2, </a:t>
            </a:r>
            <a:r>
              <a:rPr lang="en-IN" sz="1800" dirty="0">
                <a:latin typeface="Times New Roman" panose="02020603050405020304" pitchFamily="18" charset="0"/>
                <a:ea typeface="Times New Roman" panose="02020603050405020304" pitchFamily="18" charset="0"/>
                <a:cs typeface="Times New Roman" panose="02020603050405020304" pitchFamily="18" charset="0"/>
              </a:rPr>
              <a:t>with relevant depth.</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nSpc>
                <a:spcPct val="107000"/>
              </a:lnSpc>
              <a:spcAft>
                <a:spcPts val="800"/>
              </a:spcAft>
              <a:buSzPts val="1000"/>
              <a:buFont typeface="Symbol" panose="05050102010706020507" pitchFamily="18" charset="2"/>
              <a:buChar char=""/>
              <a:tabLst>
                <a:tab pos="457200" algn="l"/>
              </a:tabLst>
            </a:pPr>
            <a:r>
              <a:rPr lang="en-IN" sz="1800" b="1"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the Situation Using the Theory:</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Apply the theory to the specific context of the case. Discuss w</a:t>
            </a:r>
            <a:r>
              <a:rPr lang="en-IN" sz="1800" dirty="0">
                <a:latin typeface="Times New Roman" panose="02020603050405020304" pitchFamily="18" charset="0"/>
                <a:cs typeface="Times New Roman" panose="02020603050405020304" pitchFamily="18" charset="0"/>
              </a:rPr>
              <a:t>hat worked, what did not.</a:t>
            </a:r>
          </a:p>
          <a:p>
            <a:pPr marL="342900" indent="-342900">
              <a:lnSpc>
                <a:spcPct val="107000"/>
              </a:lnSpc>
              <a:spcAft>
                <a:spcPts val="800"/>
              </a:spcAft>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Draw Conclusions: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Discuss how the theory can explain the company’s actions and outcomes</a:t>
            </a:r>
            <a:r>
              <a:rPr lang="en-IN" sz="18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and suggest improvements or alternative strategies based on theory.</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nSpc>
                <a:spcPct val="107000"/>
              </a:lnSpc>
              <a:spcAft>
                <a:spcPts val="800"/>
              </a:spcAft>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For e.g.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 retail company is struggling with customer retention, y</a:t>
            </a:r>
            <a:r>
              <a:rPr lang="en-IN" sz="1800" dirty="0">
                <a:effectLst/>
                <a:latin typeface="Times New Roman" panose="02020603050405020304" pitchFamily="18" charset="0"/>
                <a:ea typeface="Times New Roman" panose="02020603050405020304" pitchFamily="18" charset="0"/>
              </a:rPr>
              <a:t>ou could apply </a:t>
            </a:r>
            <a:r>
              <a:rPr lang="en-IN" sz="1800" b="1" dirty="0">
                <a:effectLst/>
                <a:latin typeface="Times New Roman" panose="02020603050405020304" pitchFamily="18" charset="0"/>
                <a:ea typeface="Times New Roman" panose="02020603050405020304" pitchFamily="18" charset="0"/>
              </a:rPr>
              <a:t>customer loyalty models</a:t>
            </a:r>
            <a:r>
              <a:rPr lang="en-IN" sz="1800" dirty="0">
                <a:effectLst/>
                <a:latin typeface="Times New Roman" panose="02020603050405020304" pitchFamily="18" charset="0"/>
                <a:ea typeface="Times New Roman" panose="02020603050405020304" pitchFamily="18" charset="0"/>
              </a:rPr>
              <a:t> or </a:t>
            </a:r>
            <a:r>
              <a:rPr lang="en-IN" sz="1800" b="1" dirty="0">
                <a:effectLst/>
                <a:latin typeface="Times New Roman" panose="02020603050405020304" pitchFamily="18" charset="0"/>
                <a:ea typeface="Times New Roman" panose="02020603050405020304" pitchFamily="18" charset="0"/>
              </a:rPr>
              <a:t>relationship marketing theory</a:t>
            </a:r>
            <a:r>
              <a:rPr lang="en-IN" sz="1800" dirty="0">
                <a:effectLst/>
                <a:latin typeface="Times New Roman" panose="02020603050405020304" pitchFamily="18" charset="0"/>
                <a:ea typeface="Times New Roman" panose="02020603050405020304" pitchFamily="18" charset="0"/>
              </a:rPr>
              <a:t> to </a:t>
            </a:r>
            <a:r>
              <a:rPr lang="en-IN" sz="1800" dirty="0" err="1">
                <a:effectLst/>
                <a:latin typeface="Times New Roman" panose="02020603050405020304" pitchFamily="18" charset="0"/>
                <a:ea typeface="Times New Roman" panose="02020603050405020304" pitchFamily="18" charset="0"/>
              </a:rPr>
              <a:t>analyze</a:t>
            </a:r>
            <a:r>
              <a:rPr lang="en-IN" sz="1800" dirty="0">
                <a:effectLst/>
                <a:latin typeface="Times New Roman" panose="02020603050405020304" pitchFamily="18" charset="0"/>
                <a:ea typeface="Times New Roman" panose="02020603050405020304" pitchFamily="18" charset="0"/>
              </a:rPr>
              <a:t> the company's retention strategy and suggest ways to improve customer engagement.</a:t>
            </a:r>
            <a:endParaRPr lang="en-IN" dirty="0"/>
          </a:p>
        </p:txBody>
      </p:sp>
    </p:spTree>
    <p:extLst>
      <p:ext uri="{BB962C8B-B14F-4D97-AF65-F5344CB8AC3E}">
        <p14:creationId xmlns:p14="http://schemas.microsoft.com/office/powerpoint/2010/main" val="4044770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274321" y="365125"/>
            <a:ext cx="7209844" cy="711835"/>
          </a:xfrm>
          <a:noFill/>
        </p:spPr>
        <p:txBody>
          <a:bodyPr/>
          <a:lstStyle/>
          <a:p>
            <a:r>
              <a:rPr lang="en-US" sz="2800" b="1" dirty="0"/>
              <a:t>Why do Cases / TN get rejected?</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650240" y="1422400"/>
            <a:ext cx="6471919" cy="5151120"/>
          </a:xfrm>
          <a:noFill/>
        </p:spPr>
        <p:txBody>
          <a:bodyPr vert="horz" lIns="91440" tIns="45720" rIns="91440" bIns="45720" rtlCol="0" anchor="t">
            <a:normAutofit fontScale="85000" lnSpcReduction="20000"/>
          </a:bodyPr>
          <a:lstStyle/>
          <a:p>
            <a:pPr marL="285750" indent="-285750">
              <a:buFont typeface="Arial" panose="020B0604020202020204" pitchFamily="34" charset="0"/>
              <a:buChar char="•"/>
            </a:pPr>
            <a:r>
              <a:rPr lang="en-US" sz="2100" dirty="0"/>
              <a:t>Does not follow the case guidelines</a:t>
            </a:r>
          </a:p>
          <a:p>
            <a:pPr marL="285750" indent="-285750">
              <a:buFont typeface="Arial" panose="020B0604020202020204" pitchFamily="34" charset="0"/>
              <a:buChar char="•"/>
            </a:pPr>
            <a:r>
              <a:rPr lang="en-US" sz="2100" dirty="0"/>
              <a:t>Does not have a clear dilemma</a:t>
            </a:r>
          </a:p>
          <a:p>
            <a:pPr marL="285750" indent="-285750">
              <a:buFont typeface="Arial" panose="020B0604020202020204" pitchFamily="34" charset="0"/>
              <a:buChar char="•"/>
            </a:pPr>
            <a:r>
              <a:rPr lang="en-US" sz="2100" dirty="0"/>
              <a:t>Too long or too short (publishers prefer 10 pages or so, some shorter/mini cases)</a:t>
            </a:r>
          </a:p>
          <a:p>
            <a:pPr marL="285750" indent="-285750">
              <a:buFont typeface="Arial" panose="020B0604020202020204" pitchFamily="34" charset="0"/>
              <a:buChar char="•"/>
            </a:pPr>
            <a:r>
              <a:rPr lang="en-US" sz="2100" dirty="0"/>
              <a:t>Does not have sufficient details (or has too much, is confusing!)</a:t>
            </a:r>
          </a:p>
          <a:p>
            <a:pPr marL="285750" indent="-285750">
              <a:buFont typeface="Arial" panose="020B0604020202020204" pitchFamily="34" charset="0"/>
              <a:buChar char="•"/>
            </a:pPr>
            <a:r>
              <a:rPr lang="en-US" sz="2100" dirty="0"/>
              <a:t>Is not written in past tense</a:t>
            </a:r>
          </a:p>
          <a:p>
            <a:pPr marL="285750" indent="-285750">
              <a:buFont typeface="Arial" panose="020B0604020202020204" pitchFamily="34" charset="0"/>
              <a:buChar char="•"/>
            </a:pPr>
            <a:r>
              <a:rPr lang="en-US" sz="2100" dirty="0"/>
              <a:t>Poor quality of writing</a:t>
            </a:r>
          </a:p>
          <a:p>
            <a:pPr marL="285750" indent="-285750">
              <a:buFont typeface="Arial" panose="020B0604020202020204" pitchFamily="34" charset="0"/>
              <a:buChar char="•"/>
            </a:pPr>
            <a:r>
              <a:rPr lang="en-US" sz="2100" dirty="0"/>
              <a:t>Missing source references </a:t>
            </a:r>
          </a:p>
          <a:p>
            <a:pPr marL="285750" indent="-285750">
              <a:buFont typeface="Arial" panose="020B0604020202020204" pitchFamily="34" charset="0"/>
              <a:buChar char="•"/>
            </a:pPr>
            <a:r>
              <a:rPr lang="en-US" sz="2100" dirty="0"/>
              <a:t>Does not have clear headings/sub-headings</a:t>
            </a:r>
          </a:p>
          <a:p>
            <a:pPr marL="285750" indent="-285750">
              <a:buFont typeface="Arial" panose="020B0604020202020204" pitchFamily="34" charset="0"/>
              <a:buChar char="•"/>
            </a:pPr>
            <a:r>
              <a:rPr lang="en-US" sz="2100" dirty="0"/>
              <a:t>Absence of challenging questions</a:t>
            </a:r>
          </a:p>
          <a:p>
            <a:pPr marL="285750" indent="-285750">
              <a:buFont typeface="Arial" panose="020B0604020202020204" pitchFamily="34" charset="0"/>
              <a:buChar char="•"/>
            </a:pPr>
            <a:r>
              <a:rPr lang="en-US" sz="2100" dirty="0"/>
              <a:t>Lack of supporting material</a:t>
            </a:r>
          </a:p>
          <a:p>
            <a:pPr marL="285750" indent="-285750">
              <a:buFont typeface="Arial" panose="020B0604020202020204" pitchFamily="34" charset="0"/>
              <a:buChar char="•"/>
            </a:pPr>
            <a:r>
              <a:rPr lang="en-US" sz="2100" dirty="0"/>
              <a:t>Irrelevant Teaching Note / underdeveloped/Complicated</a:t>
            </a:r>
          </a:p>
          <a:p>
            <a:pPr marL="285750" indent="-285750">
              <a:buFont typeface="Arial" panose="020B0604020202020204" pitchFamily="34" charset="0"/>
              <a:buChar char="•"/>
            </a:pPr>
            <a:r>
              <a:rPr lang="en-US" sz="2100" dirty="0"/>
              <a:t>Absence of Case consent form</a:t>
            </a:r>
          </a:p>
          <a:p>
            <a:pPr marL="285750" indent="-285750">
              <a:buFont typeface="Arial" panose="020B0604020202020204" pitchFamily="34" charset="0"/>
              <a:buChar char="•"/>
            </a:pPr>
            <a:endParaRPr lang="en-US" sz="2100" dirty="0"/>
          </a:p>
          <a:p>
            <a:pPr marL="285750" indent="-285750">
              <a:buFont typeface="Arial" panose="020B0604020202020204" pitchFamily="34" charset="0"/>
              <a:buChar char="•"/>
            </a:pPr>
            <a:endParaRPr lang="en-US" sz="2100" dirty="0"/>
          </a:p>
          <a:p>
            <a:endParaRPr lang="en-US" dirty="0"/>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p:pic>
    </p:spTree>
    <p:extLst>
      <p:ext uri="{BB962C8B-B14F-4D97-AF65-F5344CB8AC3E}">
        <p14:creationId xmlns:p14="http://schemas.microsoft.com/office/powerpoint/2010/main" val="2737241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BAB86A-70EE-2553-4634-007FB5267610}"/>
              </a:ext>
            </a:extLst>
          </p:cNvPr>
          <p:cNvSpPr>
            <a:spLocks noGrp="1"/>
          </p:cNvSpPr>
          <p:nvPr>
            <p:ph type="title"/>
          </p:nvPr>
        </p:nvSpPr>
        <p:spPr>
          <a:xfrm>
            <a:off x="1143000" y="264161"/>
            <a:ext cx="9906000" cy="559862"/>
          </a:xfrm>
        </p:spPr>
        <p:txBody>
          <a:bodyPr>
            <a:noAutofit/>
          </a:bodyPr>
          <a:lstStyle/>
          <a:p>
            <a:r>
              <a:rPr lang="en-IN" sz="3200" b="1" dirty="0"/>
              <a:t>Ivey Case review &amp; feedback Page 1</a:t>
            </a:r>
          </a:p>
        </p:txBody>
      </p:sp>
      <p:sp>
        <p:nvSpPr>
          <p:cNvPr id="8" name="Content Placeholder 7">
            <a:extLst>
              <a:ext uri="{FF2B5EF4-FFF2-40B4-BE49-F238E27FC236}">
                <a16:creationId xmlns:a16="http://schemas.microsoft.com/office/drawing/2014/main" id="{89C2094A-ED85-4834-F0FA-8B39651559BA}"/>
              </a:ext>
            </a:extLst>
          </p:cNvPr>
          <p:cNvSpPr>
            <a:spLocks noGrp="1"/>
          </p:cNvSpPr>
          <p:nvPr>
            <p:ph idx="1"/>
          </p:nvPr>
        </p:nvSpPr>
        <p:spPr>
          <a:xfrm>
            <a:off x="345440" y="965200"/>
            <a:ext cx="10703560" cy="5068778"/>
          </a:xfrm>
        </p:spPr>
        <p:txBody>
          <a:bodyPr>
            <a:normAutofit fontScale="70000" lnSpcReduction="20000"/>
          </a:bodyPr>
          <a:lstStyle/>
          <a:p>
            <a:pPr marL="0" indent="0">
              <a:buNone/>
            </a:pPr>
            <a:r>
              <a:rPr lang="en-US" b="0" i="0" dirty="0">
                <a:solidFill>
                  <a:srgbClr val="222222"/>
                </a:solidFill>
                <a:effectLst/>
                <a:latin typeface="Book Antiqua" panose="02040602050305030304" pitchFamily="18" charset="0"/>
              </a:rPr>
              <a:t>"The opening section is too long and does not state the dilemma clearly enough, or with sufficient urgency. The organizational background section is too high level. Get down from 30,000 feet and into the weeds more, as befits a case study. For example, how did the founders persuade early customers to buy their product? Give more information about the founders' journey in building the company, with dates, milestones, growth inflection points, etc.</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Also, key information is missing on the company's current organizational structure, its financing history, and its current performance relative to competitors. The case is too vague on details at present. Such details as are provided in the exhibits are not integrated into the text at all. This need to be addressed.</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Lacking details makes it hard for students to understand how the company started, gained traction, and grew. They need this to understand what potential the company has now. I am unclear what stage is it at now and why it needs to consider the internationalization option on financial grounds. This is a crucial piece of context though!</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Place information about the technology earlier. It is thorough when it arrives, but it should be streamlined and made more comprehensible. Explain buzz words. E.g., if you claim that the company embodies "six sigma', explain what that is and why it is important.</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Remember: explain terms whenever you introduce them. This goes for products too. For instance, the final page of text mentions a suite of products; but these are not described. Overall, make your writing more precise!</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endParaRPr lang="en-IN" dirty="0"/>
          </a:p>
        </p:txBody>
      </p:sp>
    </p:spTree>
    <p:extLst>
      <p:ext uri="{BB962C8B-B14F-4D97-AF65-F5344CB8AC3E}">
        <p14:creationId xmlns:p14="http://schemas.microsoft.com/office/powerpoint/2010/main" val="404613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2AB5-E3C4-64AB-CDFF-3B1225FE4BEF}"/>
              </a:ext>
            </a:extLst>
          </p:cNvPr>
          <p:cNvSpPr>
            <a:spLocks noGrp="1"/>
          </p:cNvSpPr>
          <p:nvPr>
            <p:ph type="title"/>
          </p:nvPr>
        </p:nvSpPr>
        <p:spPr/>
        <p:txBody>
          <a:bodyPr/>
          <a:lstStyle/>
          <a:p>
            <a:r>
              <a:rPr lang="en-IN" dirty="0"/>
              <a:t>Page 2</a:t>
            </a:r>
          </a:p>
        </p:txBody>
      </p:sp>
      <p:sp>
        <p:nvSpPr>
          <p:cNvPr id="3" name="Content Placeholder 2">
            <a:extLst>
              <a:ext uri="{FF2B5EF4-FFF2-40B4-BE49-F238E27FC236}">
                <a16:creationId xmlns:a16="http://schemas.microsoft.com/office/drawing/2014/main" id="{8D2C6884-FB9D-C0DF-A639-04BAFE502CA4}"/>
              </a:ext>
            </a:extLst>
          </p:cNvPr>
          <p:cNvSpPr>
            <a:spLocks noGrp="1"/>
          </p:cNvSpPr>
          <p:nvPr>
            <p:ph idx="1"/>
          </p:nvPr>
        </p:nvSpPr>
        <p:spPr/>
        <p:txBody>
          <a:bodyPr>
            <a:normAutofit fontScale="70000" lnSpcReduction="20000"/>
          </a:bodyPr>
          <a:lstStyle/>
          <a:p>
            <a:pPr marL="0" indent="0">
              <a:buNone/>
            </a:pPr>
            <a:r>
              <a:rPr lang="en-US" b="0" i="0" dirty="0">
                <a:solidFill>
                  <a:srgbClr val="222222"/>
                </a:solidFill>
                <a:effectLst/>
                <a:latin typeface="Book Antiqua" panose="02040602050305030304" pitchFamily="18" charset="0"/>
              </a:rPr>
              <a:t>Information is also missing about where the company sits in relation to the competition. Exhibit 3 lists information about competitors but the text needs to be expanded to interpret these data.</a:t>
            </a:r>
            <a:br>
              <a:rPr lang="en-US" dirty="0"/>
            </a:br>
            <a:br>
              <a:rPr lang="en-US" dirty="0"/>
            </a:br>
            <a:r>
              <a:rPr lang="en-US" b="0" i="0" dirty="0">
                <a:solidFill>
                  <a:srgbClr val="222222"/>
                </a:solidFill>
                <a:effectLst/>
                <a:latin typeface="Book Antiqua" panose="02040602050305030304" pitchFamily="18" charset="0"/>
              </a:rPr>
              <a:t>Regarding the case decision in general, how much finance does the company need? Why and what for? This is crucial information which needs to be provided!</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The Alternatives section is missing. You should add salient considerations affecting choices between different sources of finance. The TN synopsis lists a few; this section needs to build them up. Also, discuss the environment for raising finance, e.g., interest rates, and what the company's financial track record implies about what it feasible. Also, discuss the status quo option, i.e., what would happen if no finance is raised.</a:t>
            </a:r>
            <a:br>
              <a:rPr lang="en-US" dirty="0"/>
            </a:br>
            <a:br>
              <a:rPr lang="en-US" dirty="0"/>
            </a:br>
            <a:r>
              <a:rPr lang="en-US" b="0" i="0" dirty="0">
                <a:solidFill>
                  <a:srgbClr val="222222"/>
                </a:solidFill>
                <a:effectLst/>
                <a:latin typeface="Book Antiqua" panose="02040602050305030304" pitchFamily="18" charset="0"/>
              </a:rPr>
              <a:t>The conclusion needs to tie back to the opening paragraph and stress the urgency of the decision.</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I like the focus of the case on a climate-tech venture. However, a huge amount of work is needed to improve the quality and usability of this case study. See my comments above for constructive suggestions about how to revise it.</a:t>
            </a:r>
            <a:br>
              <a:rPr lang="en-US" b="0" i="0" dirty="0">
                <a:solidFill>
                  <a:srgbClr val="222222"/>
                </a:solidFill>
                <a:effectLst/>
                <a:latin typeface="Book Antiqua" panose="02040602050305030304" pitchFamily="18" charset="0"/>
              </a:rPr>
            </a:br>
            <a:endParaRPr lang="en-IN" dirty="0"/>
          </a:p>
        </p:txBody>
      </p:sp>
    </p:spTree>
    <p:extLst>
      <p:ext uri="{BB962C8B-B14F-4D97-AF65-F5344CB8AC3E}">
        <p14:creationId xmlns:p14="http://schemas.microsoft.com/office/powerpoint/2010/main" val="1050307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A86A-DA3D-6503-537C-4D875FE372F3}"/>
              </a:ext>
            </a:extLst>
          </p:cNvPr>
          <p:cNvSpPr>
            <a:spLocks noGrp="1"/>
          </p:cNvSpPr>
          <p:nvPr>
            <p:ph type="title"/>
          </p:nvPr>
        </p:nvSpPr>
        <p:spPr/>
        <p:txBody>
          <a:bodyPr/>
          <a:lstStyle/>
          <a:p>
            <a:r>
              <a:rPr lang="en-IN" dirty="0"/>
              <a:t>Page 3</a:t>
            </a:r>
          </a:p>
        </p:txBody>
      </p:sp>
      <p:sp>
        <p:nvSpPr>
          <p:cNvPr id="3" name="Content Placeholder 2">
            <a:extLst>
              <a:ext uri="{FF2B5EF4-FFF2-40B4-BE49-F238E27FC236}">
                <a16:creationId xmlns:a16="http://schemas.microsoft.com/office/drawing/2014/main" id="{C4230E3F-C401-60FE-3205-DEA5EA3BBF47}"/>
              </a:ext>
            </a:extLst>
          </p:cNvPr>
          <p:cNvSpPr>
            <a:spLocks noGrp="1"/>
          </p:cNvSpPr>
          <p:nvPr>
            <p:ph idx="1"/>
          </p:nvPr>
        </p:nvSpPr>
        <p:spPr/>
        <p:txBody>
          <a:bodyPr>
            <a:normAutofit fontScale="70000" lnSpcReduction="20000"/>
          </a:bodyPr>
          <a:lstStyle/>
          <a:p>
            <a:pPr marL="0" indent="0">
              <a:buNone/>
            </a:pP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One other point: avoid standalone exhibits! Either integrate them into the text or omit them</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The Learning Objectives do not match sufficiently the central dilemma mentioned in the Synopsis.</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Regarding Position in Course, why is the case unsuitable for undergraduates?</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The Relevant Readings are not tied closely enough to the analysis in the Assignment Questions.</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The Assignment Questions are acceptable, but too many frameworks are listed underneath them. Most cases focus on one, or perhaps two frameworks at most. I counted no less than 17 here!!</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Minor point, but a table of timings for the Teaching Plan would help.</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endParaRPr lang="en-IN" dirty="0"/>
          </a:p>
        </p:txBody>
      </p:sp>
    </p:spTree>
    <p:extLst>
      <p:ext uri="{BB962C8B-B14F-4D97-AF65-F5344CB8AC3E}">
        <p14:creationId xmlns:p14="http://schemas.microsoft.com/office/powerpoint/2010/main" val="3986898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AB9B2-2FBA-42E8-81D0-A78E5AFAB4B1}"/>
              </a:ext>
            </a:extLst>
          </p:cNvPr>
          <p:cNvSpPr>
            <a:spLocks noGrp="1"/>
          </p:cNvSpPr>
          <p:nvPr>
            <p:ph type="title"/>
          </p:nvPr>
        </p:nvSpPr>
        <p:spPr/>
        <p:txBody>
          <a:bodyPr/>
          <a:lstStyle/>
          <a:p>
            <a:r>
              <a:rPr lang="en-IN" dirty="0"/>
              <a:t>Page 4!</a:t>
            </a:r>
          </a:p>
        </p:txBody>
      </p:sp>
      <p:sp>
        <p:nvSpPr>
          <p:cNvPr id="3" name="Content Placeholder 2">
            <a:extLst>
              <a:ext uri="{FF2B5EF4-FFF2-40B4-BE49-F238E27FC236}">
                <a16:creationId xmlns:a16="http://schemas.microsoft.com/office/drawing/2014/main" id="{1093DC22-FB6C-26A1-8873-B9020BE0C20A}"/>
              </a:ext>
            </a:extLst>
          </p:cNvPr>
          <p:cNvSpPr>
            <a:spLocks noGrp="1"/>
          </p:cNvSpPr>
          <p:nvPr>
            <p:ph idx="1"/>
          </p:nvPr>
        </p:nvSpPr>
        <p:spPr/>
        <p:txBody>
          <a:bodyPr>
            <a:normAutofit fontScale="85000" lnSpcReduction="20000"/>
          </a:bodyPr>
          <a:lstStyle/>
          <a:p>
            <a:pPr marL="0" indent="0">
              <a:buNone/>
            </a:pPr>
            <a:r>
              <a:rPr lang="en-US" b="0" i="0" dirty="0">
                <a:solidFill>
                  <a:srgbClr val="222222"/>
                </a:solidFill>
                <a:effectLst/>
                <a:latin typeface="Book Antiqua" panose="02040602050305030304" pitchFamily="18" charset="0"/>
              </a:rPr>
              <a:t>*This is the biggest problem with the TN at present*: All five questions suffer from the same problem: the suggested answers are thin and superficial.</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It is not enough to list a few frameworks and leave it at that! Instead , pick one and go into detail. Show instructors what a good 'model' answer look like. Draw on case facts when making your arguments. There should be clear suggested answers, which leverage the readings to frame the analysis. This is all missing at present.</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Finally, the Conclusion is not tied closely enough to resolution (or not) of the central case dilemma.</a:t>
            </a:r>
            <a:br>
              <a:rPr lang="en-US" b="0" i="0" dirty="0">
                <a:solidFill>
                  <a:srgbClr val="222222"/>
                </a:solidFill>
                <a:effectLst/>
                <a:latin typeface="Book Antiqua" panose="02040602050305030304" pitchFamily="18" charset="0"/>
              </a:rPr>
            </a:br>
            <a:br>
              <a:rPr lang="en-US" b="0" i="0" dirty="0">
                <a:solidFill>
                  <a:srgbClr val="222222"/>
                </a:solidFill>
                <a:effectLst/>
                <a:latin typeface="Book Antiqua" panose="02040602050305030304" pitchFamily="18" charset="0"/>
              </a:rPr>
            </a:br>
            <a:r>
              <a:rPr lang="en-US" b="0" i="0" dirty="0">
                <a:solidFill>
                  <a:srgbClr val="222222"/>
                </a:solidFill>
                <a:effectLst/>
                <a:latin typeface="Book Antiqua" panose="02040602050305030304" pitchFamily="18" charset="0"/>
              </a:rPr>
              <a:t>While I appreciate your efforts to incorporate theory into the TN, what you have done does not work. A TN should leverage one or two frameworks at most, drawing on the readings, and using case facts to distill model "answers" </a:t>
            </a:r>
            <a:r>
              <a:rPr lang="en-US" b="0" i="0" dirty="0" err="1">
                <a:solidFill>
                  <a:srgbClr val="222222"/>
                </a:solidFill>
                <a:effectLst/>
                <a:latin typeface="Book Antiqua" panose="02040602050305030304" pitchFamily="18" charset="0"/>
              </a:rPr>
              <a:t>thst</a:t>
            </a:r>
            <a:r>
              <a:rPr lang="en-US" b="0" i="0" dirty="0">
                <a:solidFill>
                  <a:srgbClr val="222222"/>
                </a:solidFill>
                <a:effectLst/>
                <a:latin typeface="Book Antiqua" panose="02040602050305030304" pitchFamily="18" charset="0"/>
              </a:rPr>
              <a:t> instructors can use when teaching your case. Instead, this TN mentions 17 (!) frameworks but does not analyze any of them properly.</a:t>
            </a:r>
            <a:endParaRPr lang="en-IN" dirty="0"/>
          </a:p>
        </p:txBody>
      </p:sp>
    </p:spTree>
    <p:extLst>
      <p:ext uri="{BB962C8B-B14F-4D97-AF65-F5344CB8AC3E}">
        <p14:creationId xmlns:p14="http://schemas.microsoft.com/office/powerpoint/2010/main" val="1231737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noFill/>
        </p:spPr>
        <p:txBody>
          <a:bodyPr anchor="t">
            <a:normAutofit/>
          </a:bodyPr>
          <a:lstStyle/>
          <a:p>
            <a:endParaRPr lang="en-US" dirty="0"/>
          </a:p>
        </p:txBody>
      </p: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{FC077C90-925D-4562-9CDB-5080B8A64088}tf22797433_win32</Template>
  <TotalTime>6896</TotalTime>
  <Words>2055</Words>
  <Application>Microsoft Office PowerPoint</Application>
  <PresentationFormat>Widescreen</PresentationFormat>
  <Paragraphs>120</Paragraphs>
  <Slides>16</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Aptos</vt:lpstr>
      <vt:lpstr>Arial</vt:lpstr>
      <vt:lpstr>Book Antiqua</vt:lpstr>
      <vt:lpstr>Calibri</vt:lpstr>
      <vt:lpstr>Courier New</vt:lpstr>
      <vt:lpstr>Symbol</vt:lpstr>
      <vt:lpstr>Times New Roman</vt:lpstr>
      <vt:lpstr>Univers Condensed Light</vt:lpstr>
      <vt:lpstr>Walbaum Display Light</vt:lpstr>
      <vt:lpstr>AngleLinesVTI</vt:lpstr>
      <vt:lpstr>How to get started: The case structure </vt:lpstr>
      <vt:lpstr>Key Elements of a Case </vt:lpstr>
      <vt:lpstr>What catches the eye?</vt:lpstr>
      <vt:lpstr>What issues COULD Be written about? </vt:lpstr>
      <vt:lpstr>More issues Cont’d.</vt:lpstr>
      <vt:lpstr>Identifying a Research Problem </vt:lpstr>
      <vt:lpstr>How to structure your case?</vt:lpstr>
      <vt:lpstr>Making a Strong Opening Statement </vt:lpstr>
      <vt:lpstr>teaching note : Key Elements </vt:lpstr>
      <vt:lpstr>Connecting Findings to Business Theory </vt:lpstr>
      <vt:lpstr>Why do Cases / TN get rejected?</vt:lpstr>
      <vt:lpstr>Ivey Case review &amp; feedback Page 1</vt:lpstr>
      <vt:lpstr>Page 2</vt:lpstr>
      <vt:lpstr>Page 3</vt:lpstr>
      <vt:lpstr>Page 4!</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get started: The case structure </dc:title>
  <dc:creator>Kakoli  Sen</dc:creator>
  <cp:lastModifiedBy>Kakoli  Sen</cp:lastModifiedBy>
  <cp:revision>45</cp:revision>
  <dcterms:created xsi:type="dcterms:W3CDTF">2025-02-27T12:16:00Z</dcterms:created>
  <dcterms:modified xsi:type="dcterms:W3CDTF">2025-12-19T16:53:02Z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