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60" r:id="rId5"/>
    <p:sldId id="259" r:id="rId6"/>
    <p:sldId id="262" r:id="rId7"/>
    <p:sldId id="261" r:id="rId8"/>
    <p:sldId id="265" r:id="rId9"/>
    <p:sldId id="266" r:id="rId10"/>
    <p:sldId id="267" r:id="rId11"/>
    <p:sldId id="268" r:id="rId12"/>
    <p:sldId id="299" r:id="rId13"/>
    <p:sldId id="301" r:id="rId14"/>
    <p:sldId id="270" r:id="rId15"/>
    <p:sldId id="271" r:id="rId16"/>
    <p:sldId id="26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7B287-92F1-4477-E791-6763EEC897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53FD73D-EE37-9B36-87BD-128D0104DB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1389B1-FC6D-014A-5E76-50F9EE51F10D}"/>
              </a:ext>
            </a:extLst>
          </p:cNvPr>
          <p:cNvSpPr>
            <a:spLocks noGrp="1"/>
          </p:cNvSpPr>
          <p:nvPr>
            <p:ph type="dt" sz="half" idx="10"/>
          </p:nvPr>
        </p:nvSpPr>
        <p:spPr/>
        <p:txBody>
          <a:bodyPr/>
          <a:lstStyle/>
          <a:p>
            <a:fld id="{502A3854-ECDE-4121-9F8E-F40C23482E42}" type="datetimeFigureOut">
              <a:rPr lang="en-IN" smtClean="0"/>
              <a:t>19-12-2025</a:t>
            </a:fld>
            <a:endParaRPr lang="en-IN"/>
          </a:p>
        </p:txBody>
      </p:sp>
      <p:sp>
        <p:nvSpPr>
          <p:cNvPr id="5" name="Footer Placeholder 4">
            <a:extLst>
              <a:ext uri="{FF2B5EF4-FFF2-40B4-BE49-F238E27FC236}">
                <a16:creationId xmlns:a16="http://schemas.microsoft.com/office/drawing/2014/main" id="{9880E46A-A62C-F0BB-9FC3-41E732B17E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2BF968-52D6-C65D-2A54-D6DD3FF3E8AE}"/>
              </a:ext>
            </a:extLst>
          </p:cNvPr>
          <p:cNvSpPr>
            <a:spLocks noGrp="1"/>
          </p:cNvSpPr>
          <p:nvPr>
            <p:ph type="sldNum" sz="quarter" idx="12"/>
          </p:nvPr>
        </p:nvSpPr>
        <p:spPr/>
        <p:txBody>
          <a:bodyPr/>
          <a:lstStyle/>
          <a:p>
            <a:fld id="{CE68C7FB-98BB-45BC-9DB6-488C99430C6C}" type="slidenum">
              <a:rPr lang="en-IN" smtClean="0"/>
              <a:t>‹#›</a:t>
            </a:fld>
            <a:endParaRPr lang="en-IN"/>
          </a:p>
        </p:txBody>
      </p:sp>
    </p:spTree>
    <p:extLst>
      <p:ext uri="{BB962C8B-B14F-4D97-AF65-F5344CB8AC3E}">
        <p14:creationId xmlns:p14="http://schemas.microsoft.com/office/powerpoint/2010/main" val="4273511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BE989-38DA-48F7-4105-8370E10D9E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28929C-E4B5-57CA-DDA1-0C8AD372E1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28D296-9F05-384D-6F2A-897EFD6248F4}"/>
              </a:ext>
            </a:extLst>
          </p:cNvPr>
          <p:cNvSpPr>
            <a:spLocks noGrp="1"/>
          </p:cNvSpPr>
          <p:nvPr>
            <p:ph type="dt" sz="half" idx="10"/>
          </p:nvPr>
        </p:nvSpPr>
        <p:spPr/>
        <p:txBody>
          <a:bodyPr/>
          <a:lstStyle/>
          <a:p>
            <a:fld id="{502A3854-ECDE-4121-9F8E-F40C23482E42}" type="datetimeFigureOut">
              <a:rPr lang="en-IN" smtClean="0"/>
              <a:t>19-12-2025</a:t>
            </a:fld>
            <a:endParaRPr lang="en-IN"/>
          </a:p>
        </p:txBody>
      </p:sp>
      <p:sp>
        <p:nvSpPr>
          <p:cNvPr id="5" name="Footer Placeholder 4">
            <a:extLst>
              <a:ext uri="{FF2B5EF4-FFF2-40B4-BE49-F238E27FC236}">
                <a16:creationId xmlns:a16="http://schemas.microsoft.com/office/drawing/2014/main" id="{3B1E9BBA-3DE7-A62B-6470-E36440D030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B78AEA-AADB-3C5F-3A03-6B7610C5BD98}"/>
              </a:ext>
            </a:extLst>
          </p:cNvPr>
          <p:cNvSpPr>
            <a:spLocks noGrp="1"/>
          </p:cNvSpPr>
          <p:nvPr>
            <p:ph type="sldNum" sz="quarter" idx="12"/>
          </p:nvPr>
        </p:nvSpPr>
        <p:spPr/>
        <p:txBody>
          <a:bodyPr/>
          <a:lstStyle/>
          <a:p>
            <a:fld id="{CE68C7FB-98BB-45BC-9DB6-488C99430C6C}" type="slidenum">
              <a:rPr lang="en-IN" smtClean="0"/>
              <a:t>‹#›</a:t>
            </a:fld>
            <a:endParaRPr lang="en-IN"/>
          </a:p>
        </p:txBody>
      </p:sp>
    </p:spTree>
    <p:extLst>
      <p:ext uri="{BB962C8B-B14F-4D97-AF65-F5344CB8AC3E}">
        <p14:creationId xmlns:p14="http://schemas.microsoft.com/office/powerpoint/2010/main" val="4113273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96649-1717-13AD-FA96-D9AA70E5B8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7D4F02D-BF36-E1E9-6E67-7D488B68DF3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855619-AFC0-AE87-6357-FAA72F5355BA}"/>
              </a:ext>
            </a:extLst>
          </p:cNvPr>
          <p:cNvSpPr>
            <a:spLocks noGrp="1"/>
          </p:cNvSpPr>
          <p:nvPr>
            <p:ph type="dt" sz="half" idx="10"/>
          </p:nvPr>
        </p:nvSpPr>
        <p:spPr/>
        <p:txBody>
          <a:bodyPr/>
          <a:lstStyle/>
          <a:p>
            <a:fld id="{502A3854-ECDE-4121-9F8E-F40C23482E42}" type="datetimeFigureOut">
              <a:rPr lang="en-IN" smtClean="0"/>
              <a:t>19-12-2025</a:t>
            </a:fld>
            <a:endParaRPr lang="en-IN"/>
          </a:p>
        </p:txBody>
      </p:sp>
      <p:sp>
        <p:nvSpPr>
          <p:cNvPr id="5" name="Footer Placeholder 4">
            <a:extLst>
              <a:ext uri="{FF2B5EF4-FFF2-40B4-BE49-F238E27FC236}">
                <a16:creationId xmlns:a16="http://schemas.microsoft.com/office/drawing/2014/main" id="{0404F6DF-AA48-2DD3-C113-A5A7DE9008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28C569-F294-4B1D-02F8-4FE845B21291}"/>
              </a:ext>
            </a:extLst>
          </p:cNvPr>
          <p:cNvSpPr>
            <a:spLocks noGrp="1"/>
          </p:cNvSpPr>
          <p:nvPr>
            <p:ph type="sldNum" sz="quarter" idx="12"/>
          </p:nvPr>
        </p:nvSpPr>
        <p:spPr/>
        <p:txBody>
          <a:bodyPr/>
          <a:lstStyle/>
          <a:p>
            <a:fld id="{CE68C7FB-98BB-45BC-9DB6-488C99430C6C}" type="slidenum">
              <a:rPr lang="en-IN" smtClean="0"/>
              <a:t>‹#›</a:t>
            </a:fld>
            <a:endParaRPr lang="en-IN"/>
          </a:p>
        </p:txBody>
      </p:sp>
    </p:spTree>
    <p:extLst>
      <p:ext uri="{BB962C8B-B14F-4D97-AF65-F5344CB8AC3E}">
        <p14:creationId xmlns:p14="http://schemas.microsoft.com/office/powerpoint/2010/main" val="2313858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259A1-8B5E-00FC-DDDA-9A3F9B002F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ADA1210-C1D5-35EB-AA89-5DE64B66B8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1BAD33F-440B-4648-1394-DCAD62ECF6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C3BD6C6-1392-FCED-945E-6741BC309F63}"/>
              </a:ext>
            </a:extLst>
          </p:cNvPr>
          <p:cNvSpPr>
            <a:spLocks noGrp="1"/>
          </p:cNvSpPr>
          <p:nvPr>
            <p:ph type="dt" sz="half" idx="10"/>
          </p:nvPr>
        </p:nvSpPr>
        <p:spPr/>
        <p:txBody>
          <a:bodyPr/>
          <a:lstStyle/>
          <a:p>
            <a:fld id="{502A3854-ECDE-4121-9F8E-F40C23482E42}" type="datetimeFigureOut">
              <a:rPr lang="en-IN" smtClean="0"/>
              <a:t>19-12-2025</a:t>
            </a:fld>
            <a:endParaRPr lang="en-IN"/>
          </a:p>
        </p:txBody>
      </p:sp>
      <p:sp>
        <p:nvSpPr>
          <p:cNvPr id="6" name="Footer Placeholder 5">
            <a:extLst>
              <a:ext uri="{FF2B5EF4-FFF2-40B4-BE49-F238E27FC236}">
                <a16:creationId xmlns:a16="http://schemas.microsoft.com/office/drawing/2014/main" id="{7BC759E5-D870-739F-1F30-3A2E3ED480A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F896E8F-78C7-5257-54A9-519FEB09ACDE}"/>
              </a:ext>
            </a:extLst>
          </p:cNvPr>
          <p:cNvSpPr>
            <a:spLocks noGrp="1"/>
          </p:cNvSpPr>
          <p:nvPr>
            <p:ph type="sldNum" sz="quarter" idx="12"/>
          </p:nvPr>
        </p:nvSpPr>
        <p:spPr/>
        <p:txBody>
          <a:bodyPr/>
          <a:lstStyle/>
          <a:p>
            <a:fld id="{CE68C7FB-98BB-45BC-9DB6-488C99430C6C}" type="slidenum">
              <a:rPr lang="en-IN" smtClean="0"/>
              <a:t>‹#›</a:t>
            </a:fld>
            <a:endParaRPr lang="en-IN"/>
          </a:p>
        </p:txBody>
      </p:sp>
    </p:spTree>
    <p:extLst>
      <p:ext uri="{BB962C8B-B14F-4D97-AF65-F5344CB8AC3E}">
        <p14:creationId xmlns:p14="http://schemas.microsoft.com/office/powerpoint/2010/main" val="4078357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86021-983D-23D8-77CD-3C1B2CEC21C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28DC2D-553F-AC82-DAB1-A9E5D17A91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3B642F-923B-2404-6947-9F0CF6E8F4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9962573-1D6E-A4FB-F03F-5A976D17F4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3F8F0F-0090-0DCB-CEBE-2FBA460BDC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FB01A9C-03C9-2337-428D-C5B0B035EB36}"/>
              </a:ext>
            </a:extLst>
          </p:cNvPr>
          <p:cNvSpPr>
            <a:spLocks noGrp="1"/>
          </p:cNvSpPr>
          <p:nvPr>
            <p:ph type="dt" sz="half" idx="10"/>
          </p:nvPr>
        </p:nvSpPr>
        <p:spPr/>
        <p:txBody>
          <a:bodyPr/>
          <a:lstStyle/>
          <a:p>
            <a:fld id="{502A3854-ECDE-4121-9F8E-F40C23482E42}" type="datetimeFigureOut">
              <a:rPr lang="en-IN" smtClean="0"/>
              <a:t>19-12-2025</a:t>
            </a:fld>
            <a:endParaRPr lang="en-IN"/>
          </a:p>
        </p:txBody>
      </p:sp>
      <p:sp>
        <p:nvSpPr>
          <p:cNvPr id="8" name="Footer Placeholder 7">
            <a:extLst>
              <a:ext uri="{FF2B5EF4-FFF2-40B4-BE49-F238E27FC236}">
                <a16:creationId xmlns:a16="http://schemas.microsoft.com/office/drawing/2014/main" id="{089E667E-B300-BBD1-1011-F040C14A6A8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0EC80AC-D5F3-9534-7AA1-7C84964F725E}"/>
              </a:ext>
            </a:extLst>
          </p:cNvPr>
          <p:cNvSpPr>
            <a:spLocks noGrp="1"/>
          </p:cNvSpPr>
          <p:nvPr>
            <p:ph type="sldNum" sz="quarter" idx="12"/>
          </p:nvPr>
        </p:nvSpPr>
        <p:spPr/>
        <p:txBody>
          <a:bodyPr/>
          <a:lstStyle/>
          <a:p>
            <a:fld id="{CE68C7FB-98BB-45BC-9DB6-488C99430C6C}" type="slidenum">
              <a:rPr lang="en-IN" smtClean="0"/>
              <a:t>‹#›</a:t>
            </a:fld>
            <a:endParaRPr lang="en-IN"/>
          </a:p>
        </p:txBody>
      </p:sp>
    </p:spTree>
    <p:extLst>
      <p:ext uri="{BB962C8B-B14F-4D97-AF65-F5344CB8AC3E}">
        <p14:creationId xmlns:p14="http://schemas.microsoft.com/office/powerpoint/2010/main" val="2919626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43FDC-77D8-FBF5-7933-8D5257BA9BE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A6602D2-C8A6-2E7E-9AAF-9661C35B96B2}"/>
              </a:ext>
            </a:extLst>
          </p:cNvPr>
          <p:cNvSpPr>
            <a:spLocks noGrp="1"/>
          </p:cNvSpPr>
          <p:nvPr>
            <p:ph type="dt" sz="half" idx="10"/>
          </p:nvPr>
        </p:nvSpPr>
        <p:spPr/>
        <p:txBody>
          <a:bodyPr/>
          <a:lstStyle/>
          <a:p>
            <a:fld id="{502A3854-ECDE-4121-9F8E-F40C23482E42}" type="datetimeFigureOut">
              <a:rPr lang="en-IN" smtClean="0"/>
              <a:t>19-12-2025</a:t>
            </a:fld>
            <a:endParaRPr lang="en-IN"/>
          </a:p>
        </p:txBody>
      </p:sp>
      <p:sp>
        <p:nvSpPr>
          <p:cNvPr id="4" name="Footer Placeholder 3">
            <a:extLst>
              <a:ext uri="{FF2B5EF4-FFF2-40B4-BE49-F238E27FC236}">
                <a16:creationId xmlns:a16="http://schemas.microsoft.com/office/drawing/2014/main" id="{EDAAC544-5434-E2E9-54DD-DCA7BC4B61C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0573D29-7E64-721F-FDAE-C077C9CFCE12}"/>
              </a:ext>
            </a:extLst>
          </p:cNvPr>
          <p:cNvSpPr>
            <a:spLocks noGrp="1"/>
          </p:cNvSpPr>
          <p:nvPr>
            <p:ph type="sldNum" sz="quarter" idx="12"/>
          </p:nvPr>
        </p:nvSpPr>
        <p:spPr/>
        <p:txBody>
          <a:bodyPr/>
          <a:lstStyle/>
          <a:p>
            <a:fld id="{CE68C7FB-98BB-45BC-9DB6-488C99430C6C}" type="slidenum">
              <a:rPr lang="en-IN" smtClean="0"/>
              <a:t>‹#›</a:t>
            </a:fld>
            <a:endParaRPr lang="en-IN"/>
          </a:p>
        </p:txBody>
      </p:sp>
    </p:spTree>
    <p:extLst>
      <p:ext uri="{BB962C8B-B14F-4D97-AF65-F5344CB8AC3E}">
        <p14:creationId xmlns:p14="http://schemas.microsoft.com/office/powerpoint/2010/main" val="745712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898A65-423D-A3EC-0D2D-1890F315B144}"/>
              </a:ext>
            </a:extLst>
          </p:cNvPr>
          <p:cNvSpPr>
            <a:spLocks noGrp="1"/>
          </p:cNvSpPr>
          <p:nvPr>
            <p:ph type="dt" sz="half" idx="10"/>
          </p:nvPr>
        </p:nvSpPr>
        <p:spPr/>
        <p:txBody>
          <a:bodyPr/>
          <a:lstStyle/>
          <a:p>
            <a:fld id="{502A3854-ECDE-4121-9F8E-F40C23482E42}" type="datetimeFigureOut">
              <a:rPr lang="en-IN" smtClean="0"/>
              <a:t>19-12-2025</a:t>
            </a:fld>
            <a:endParaRPr lang="en-IN"/>
          </a:p>
        </p:txBody>
      </p:sp>
      <p:sp>
        <p:nvSpPr>
          <p:cNvPr id="3" name="Footer Placeholder 2">
            <a:extLst>
              <a:ext uri="{FF2B5EF4-FFF2-40B4-BE49-F238E27FC236}">
                <a16:creationId xmlns:a16="http://schemas.microsoft.com/office/drawing/2014/main" id="{F347DFDC-E765-E1D2-7280-2F8B9ECA233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D21B1A-E9E6-A16C-4B02-FACAA7F4B781}"/>
              </a:ext>
            </a:extLst>
          </p:cNvPr>
          <p:cNvSpPr>
            <a:spLocks noGrp="1"/>
          </p:cNvSpPr>
          <p:nvPr>
            <p:ph type="sldNum" sz="quarter" idx="12"/>
          </p:nvPr>
        </p:nvSpPr>
        <p:spPr/>
        <p:txBody>
          <a:bodyPr/>
          <a:lstStyle/>
          <a:p>
            <a:fld id="{CE68C7FB-98BB-45BC-9DB6-488C99430C6C}" type="slidenum">
              <a:rPr lang="en-IN" smtClean="0"/>
              <a:t>‹#›</a:t>
            </a:fld>
            <a:endParaRPr lang="en-IN"/>
          </a:p>
        </p:txBody>
      </p:sp>
    </p:spTree>
    <p:extLst>
      <p:ext uri="{BB962C8B-B14F-4D97-AF65-F5344CB8AC3E}">
        <p14:creationId xmlns:p14="http://schemas.microsoft.com/office/powerpoint/2010/main" val="13696231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D0318-4CED-9DB1-4079-4906504643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BD545C3-2D74-931E-A964-207F8144CB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D2C29FB-E107-AAC9-67A2-5A878A4C95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EC46D2-0B72-6510-CF0C-79C1CCE8E90D}"/>
              </a:ext>
            </a:extLst>
          </p:cNvPr>
          <p:cNvSpPr>
            <a:spLocks noGrp="1"/>
          </p:cNvSpPr>
          <p:nvPr>
            <p:ph type="dt" sz="half" idx="10"/>
          </p:nvPr>
        </p:nvSpPr>
        <p:spPr/>
        <p:txBody>
          <a:bodyPr/>
          <a:lstStyle/>
          <a:p>
            <a:fld id="{502A3854-ECDE-4121-9F8E-F40C23482E42}" type="datetimeFigureOut">
              <a:rPr lang="en-IN" smtClean="0"/>
              <a:t>19-12-2025</a:t>
            </a:fld>
            <a:endParaRPr lang="en-IN"/>
          </a:p>
        </p:txBody>
      </p:sp>
      <p:sp>
        <p:nvSpPr>
          <p:cNvPr id="6" name="Footer Placeholder 5">
            <a:extLst>
              <a:ext uri="{FF2B5EF4-FFF2-40B4-BE49-F238E27FC236}">
                <a16:creationId xmlns:a16="http://schemas.microsoft.com/office/drawing/2014/main" id="{331BD873-2238-74CB-17AA-BF95233D1F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473679-FE57-91FF-5086-463971BF6CF7}"/>
              </a:ext>
            </a:extLst>
          </p:cNvPr>
          <p:cNvSpPr>
            <a:spLocks noGrp="1"/>
          </p:cNvSpPr>
          <p:nvPr>
            <p:ph type="sldNum" sz="quarter" idx="12"/>
          </p:nvPr>
        </p:nvSpPr>
        <p:spPr/>
        <p:txBody>
          <a:bodyPr/>
          <a:lstStyle/>
          <a:p>
            <a:fld id="{CE68C7FB-98BB-45BC-9DB6-488C99430C6C}" type="slidenum">
              <a:rPr lang="en-IN" smtClean="0"/>
              <a:t>‹#›</a:t>
            </a:fld>
            <a:endParaRPr lang="en-IN"/>
          </a:p>
        </p:txBody>
      </p:sp>
    </p:spTree>
    <p:extLst>
      <p:ext uri="{BB962C8B-B14F-4D97-AF65-F5344CB8AC3E}">
        <p14:creationId xmlns:p14="http://schemas.microsoft.com/office/powerpoint/2010/main" val="28541899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94CC0-7401-2BCD-1EC7-08C630914C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960DD9F-98CB-4FAB-5314-5E0BEB41D7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3113A47-A08C-0449-44AC-8C695779E8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3DD34D-5DA8-DA15-BBED-F05C0784A3CA}"/>
              </a:ext>
            </a:extLst>
          </p:cNvPr>
          <p:cNvSpPr>
            <a:spLocks noGrp="1"/>
          </p:cNvSpPr>
          <p:nvPr>
            <p:ph type="dt" sz="half" idx="10"/>
          </p:nvPr>
        </p:nvSpPr>
        <p:spPr/>
        <p:txBody>
          <a:bodyPr/>
          <a:lstStyle/>
          <a:p>
            <a:fld id="{502A3854-ECDE-4121-9F8E-F40C23482E42}" type="datetimeFigureOut">
              <a:rPr lang="en-IN" smtClean="0"/>
              <a:t>19-12-2025</a:t>
            </a:fld>
            <a:endParaRPr lang="en-IN"/>
          </a:p>
        </p:txBody>
      </p:sp>
      <p:sp>
        <p:nvSpPr>
          <p:cNvPr id="6" name="Footer Placeholder 5">
            <a:extLst>
              <a:ext uri="{FF2B5EF4-FFF2-40B4-BE49-F238E27FC236}">
                <a16:creationId xmlns:a16="http://schemas.microsoft.com/office/drawing/2014/main" id="{CB2AA4F7-FAED-619A-8977-D1A35AE79C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B037D02-03D5-E18F-1A1D-F66244A17493}"/>
              </a:ext>
            </a:extLst>
          </p:cNvPr>
          <p:cNvSpPr>
            <a:spLocks noGrp="1"/>
          </p:cNvSpPr>
          <p:nvPr>
            <p:ph type="sldNum" sz="quarter" idx="12"/>
          </p:nvPr>
        </p:nvSpPr>
        <p:spPr/>
        <p:txBody>
          <a:bodyPr/>
          <a:lstStyle/>
          <a:p>
            <a:fld id="{CE68C7FB-98BB-45BC-9DB6-488C99430C6C}" type="slidenum">
              <a:rPr lang="en-IN" smtClean="0"/>
              <a:t>‹#›</a:t>
            </a:fld>
            <a:endParaRPr lang="en-IN"/>
          </a:p>
        </p:txBody>
      </p:sp>
    </p:spTree>
    <p:extLst>
      <p:ext uri="{BB962C8B-B14F-4D97-AF65-F5344CB8AC3E}">
        <p14:creationId xmlns:p14="http://schemas.microsoft.com/office/powerpoint/2010/main" val="1793918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F67F6-15EA-51DB-C8BE-0C4E085743D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9D54FA5-94C7-60F7-9636-3E381FBE9D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E619F3-0837-9ECF-E75E-EA8B6B34FC25}"/>
              </a:ext>
            </a:extLst>
          </p:cNvPr>
          <p:cNvSpPr>
            <a:spLocks noGrp="1"/>
          </p:cNvSpPr>
          <p:nvPr>
            <p:ph type="dt" sz="half" idx="10"/>
          </p:nvPr>
        </p:nvSpPr>
        <p:spPr/>
        <p:txBody>
          <a:bodyPr/>
          <a:lstStyle/>
          <a:p>
            <a:fld id="{502A3854-ECDE-4121-9F8E-F40C23482E42}" type="datetimeFigureOut">
              <a:rPr lang="en-IN" smtClean="0"/>
              <a:t>19-12-2025</a:t>
            </a:fld>
            <a:endParaRPr lang="en-IN"/>
          </a:p>
        </p:txBody>
      </p:sp>
      <p:sp>
        <p:nvSpPr>
          <p:cNvPr id="5" name="Footer Placeholder 4">
            <a:extLst>
              <a:ext uri="{FF2B5EF4-FFF2-40B4-BE49-F238E27FC236}">
                <a16:creationId xmlns:a16="http://schemas.microsoft.com/office/drawing/2014/main" id="{C990BD95-8642-C026-DA1E-90BFF75EC9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CEB925-238A-C5FC-7FD7-0C95FC6432C9}"/>
              </a:ext>
            </a:extLst>
          </p:cNvPr>
          <p:cNvSpPr>
            <a:spLocks noGrp="1"/>
          </p:cNvSpPr>
          <p:nvPr>
            <p:ph type="sldNum" sz="quarter" idx="12"/>
          </p:nvPr>
        </p:nvSpPr>
        <p:spPr/>
        <p:txBody>
          <a:bodyPr/>
          <a:lstStyle/>
          <a:p>
            <a:fld id="{CE68C7FB-98BB-45BC-9DB6-488C99430C6C}" type="slidenum">
              <a:rPr lang="en-IN" smtClean="0"/>
              <a:t>‹#›</a:t>
            </a:fld>
            <a:endParaRPr lang="en-IN"/>
          </a:p>
        </p:txBody>
      </p:sp>
    </p:spTree>
    <p:extLst>
      <p:ext uri="{BB962C8B-B14F-4D97-AF65-F5344CB8AC3E}">
        <p14:creationId xmlns:p14="http://schemas.microsoft.com/office/powerpoint/2010/main" val="1061541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8683D0-3694-DF9B-76F2-05B7DD5ABCB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8B09222-73E0-96FD-A981-1BD4EABD75F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66AFDB-9E12-233A-E6EC-99BD311F40F0}"/>
              </a:ext>
            </a:extLst>
          </p:cNvPr>
          <p:cNvSpPr>
            <a:spLocks noGrp="1"/>
          </p:cNvSpPr>
          <p:nvPr>
            <p:ph type="dt" sz="half" idx="10"/>
          </p:nvPr>
        </p:nvSpPr>
        <p:spPr/>
        <p:txBody>
          <a:bodyPr/>
          <a:lstStyle/>
          <a:p>
            <a:fld id="{502A3854-ECDE-4121-9F8E-F40C23482E42}" type="datetimeFigureOut">
              <a:rPr lang="en-IN" smtClean="0"/>
              <a:t>19-12-2025</a:t>
            </a:fld>
            <a:endParaRPr lang="en-IN"/>
          </a:p>
        </p:txBody>
      </p:sp>
      <p:sp>
        <p:nvSpPr>
          <p:cNvPr id="5" name="Footer Placeholder 4">
            <a:extLst>
              <a:ext uri="{FF2B5EF4-FFF2-40B4-BE49-F238E27FC236}">
                <a16:creationId xmlns:a16="http://schemas.microsoft.com/office/drawing/2014/main" id="{C04B3E46-3421-1053-3815-5A7B3A3E01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8CE15A-CE80-D16A-71D5-3235D3B116A6}"/>
              </a:ext>
            </a:extLst>
          </p:cNvPr>
          <p:cNvSpPr>
            <a:spLocks noGrp="1"/>
          </p:cNvSpPr>
          <p:nvPr>
            <p:ph type="sldNum" sz="quarter" idx="12"/>
          </p:nvPr>
        </p:nvSpPr>
        <p:spPr/>
        <p:txBody>
          <a:bodyPr/>
          <a:lstStyle/>
          <a:p>
            <a:fld id="{CE68C7FB-98BB-45BC-9DB6-488C99430C6C}" type="slidenum">
              <a:rPr lang="en-IN" smtClean="0"/>
              <a:t>‹#›</a:t>
            </a:fld>
            <a:endParaRPr lang="en-IN"/>
          </a:p>
        </p:txBody>
      </p:sp>
    </p:spTree>
    <p:extLst>
      <p:ext uri="{BB962C8B-B14F-4D97-AF65-F5344CB8AC3E}">
        <p14:creationId xmlns:p14="http://schemas.microsoft.com/office/powerpoint/2010/main" val="3066471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21AD52-EF42-4ACE-4D9F-D4EA5D92E4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091FBD6-35C3-0761-104D-679D607A94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DD8328-FCA8-8B5C-A021-BBAD4D3C68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2A3854-ECDE-4121-9F8E-F40C23482E42}" type="datetimeFigureOut">
              <a:rPr lang="en-IN" smtClean="0"/>
              <a:t>19-12-2025</a:t>
            </a:fld>
            <a:endParaRPr lang="en-IN"/>
          </a:p>
        </p:txBody>
      </p:sp>
      <p:sp>
        <p:nvSpPr>
          <p:cNvPr id="5" name="Footer Placeholder 4">
            <a:extLst>
              <a:ext uri="{FF2B5EF4-FFF2-40B4-BE49-F238E27FC236}">
                <a16:creationId xmlns:a16="http://schemas.microsoft.com/office/drawing/2014/main" id="{EFD3DF7E-51C3-F08C-1793-A4F52F307A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85C21BD-4715-3B97-BB2D-7BB5F8AA0A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68C7FB-98BB-45BC-9DB6-488C99430C6C}" type="slidenum">
              <a:rPr lang="en-IN" smtClean="0"/>
              <a:t>‹#›</a:t>
            </a:fld>
            <a:endParaRPr lang="en-IN"/>
          </a:p>
        </p:txBody>
      </p:sp>
    </p:spTree>
    <p:extLst>
      <p:ext uri="{BB962C8B-B14F-4D97-AF65-F5344CB8AC3E}">
        <p14:creationId xmlns:p14="http://schemas.microsoft.com/office/powerpoint/2010/main" val="42786244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www.thecasecentre.org/" TargetMode="External"/><Relationship Id="rId3" Type="http://schemas.openxmlformats.org/officeDocument/2006/relationships/hyperlink" Target="http://www.acre.hku.hk/" TargetMode="External"/><Relationship Id="rId7" Type="http://schemas.openxmlformats.org/officeDocument/2006/relationships/hyperlink" Target="http://www.rsm.nl/cdc" TargetMode="External"/><Relationship Id="rId2" Type="http://schemas.openxmlformats.org/officeDocument/2006/relationships/hyperlink" Target="https://www.ibef.org/" TargetMode="External"/><Relationship Id="rId1" Type="http://schemas.openxmlformats.org/officeDocument/2006/relationships/slideLayout" Target="../slideLayouts/slideLayout2.xml"/><Relationship Id="rId6" Type="http://schemas.openxmlformats.org/officeDocument/2006/relationships/hyperlink" Target="https://nacra.net/case-research-journal/articles-on-cases" TargetMode="External"/><Relationship Id="rId5" Type="http://schemas.openxmlformats.org/officeDocument/2006/relationships/hyperlink" Target="http://www.iveypublishing.ca/" TargetMode="External"/><Relationship Id="rId10" Type="http://schemas.openxmlformats.org/officeDocument/2006/relationships/hyperlink" Target="https://mitsloan.mit.edu/teaching-resources-library/case-studies" TargetMode="External"/><Relationship Id="rId4" Type="http://schemas.openxmlformats.org/officeDocument/2006/relationships/hyperlink" Target="https://caseshub.emeraldgrouppublishing.com/" TargetMode="External"/><Relationship Id="rId9" Type="http://schemas.openxmlformats.org/officeDocument/2006/relationships/hyperlink" Target="https://hbsp.harvard.edu/educator"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www.worldscientific.com/worldscinet/acrj" TargetMode="External"/><Relationship Id="rId2" Type="http://schemas.openxmlformats.org/officeDocument/2006/relationships/hyperlink" Target="https://onlinelibrary.wiley.com/journal/19113838" TargetMode="External"/><Relationship Id="rId1" Type="http://schemas.openxmlformats.org/officeDocument/2006/relationships/slideLayout" Target="../slideLayouts/slideLayout2.xml"/><Relationship Id="rId6" Type="http://schemas.openxmlformats.org/officeDocument/2006/relationships/hyperlink" Target="http://www.emeraldgrouppublishing.com/journal/emcs" TargetMode="External"/><Relationship Id="rId5" Type="http://schemas.openxmlformats.org/officeDocument/2006/relationships/hyperlink" Target="http://www.thecasecentre.org/CaseFocus/" TargetMode="External"/><Relationship Id="rId4" Type="http://schemas.openxmlformats.org/officeDocument/2006/relationships/hyperlink" Target="https://journals.sagepub.com/home/ajc"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nacra.net/case-research-journal/" TargetMode="External"/><Relationship Id="rId2" Type="http://schemas.openxmlformats.org/officeDocument/2006/relationships/hyperlink" Target="https://scispace.com/journals/journal-of-business-case-studies-1thy2p7k" TargetMode="External"/><Relationship Id="rId1" Type="http://schemas.openxmlformats.org/officeDocument/2006/relationships/slideLayout" Target="../slideLayouts/slideLayout2.xml"/><Relationship Id="rId6" Type="http://schemas.openxmlformats.org/officeDocument/2006/relationships/hyperlink" Target="https://journals.sagepub.com/home/BMC" TargetMode="External"/><Relationship Id="rId5" Type="http://schemas.openxmlformats.org/officeDocument/2006/relationships/hyperlink" Target="https://www.hec.ca/en/case_centre/ijcsm/index.html" TargetMode="External"/><Relationship Id="rId4" Type="http://schemas.openxmlformats.org/officeDocument/2006/relationships/hyperlink" Target="https://www.worldscientific.com/worldscinet/acrj"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mailto:kakolis@iimsambalpur.ac.i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10">
            <a:extLst>
              <a:ext uri="{FF2B5EF4-FFF2-40B4-BE49-F238E27FC236}">
                <a16:creationId xmlns:a16="http://schemas.microsoft.com/office/drawing/2014/main" id="{526E0BFB-CDF1-4990-8C11-AC849311E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6" descr="Person writing on a notepad">
            <a:extLst>
              <a:ext uri="{FF2B5EF4-FFF2-40B4-BE49-F238E27FC236}">
                <a16:creationId xmlns:a16="http://schemas.microsoft.com/office/drawing/2014/main" id="{FA0DEF9D-73F6-FCEF-F5E8-673799F98B99}"/>
              </a:ext>
            </a:extLst>
          </p:cNvPr>
          <p:cNvPicPr>
            <a:picLocks noChangeAspect="1"/>
          </p:cNvPicPr>
          <p:nvPr/>
        </p:nvPicPr>
        <p:blipFill>
          <a:blip r:embed="rId2"/>
          <a:srcRect t="172" r="-1" b="-1"/>
          <a:stretch/>
        </p:blipFill>
        <p:spPr>
          <a:xfrm>
            <a:off x="-2" y="10"/>
            <a:ext cx="8668512" cy="6857990"/>
          </a:xfrm>
          <a:prstGeom prst="rect">
            <a:avLst/>
          </a:prstGeom>
        </p:spPr>
      </p:pic>
      <p:sp>
        <p:nvSpPr>
          <p:cNvPr id="24" name="Rectangle 12">
            <a:extLst>
              <a:ext uri="{FF2B5EF4-FFF2-40B4-BE49-F238E27FC236}">
                <a16:creationId xmlns:a16="http://schemas.microsoft.com/office/drawing/2014/main" id="{6069A1F8-9BEB-4786-9694-FC48B2D75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788244" y="0"/>
            <a:ext cx="9403756" cy="6858000"/>
          </a:xfrm>
          <a:prstGeom prst="rect">
            <a:avLst/>
          </a:prstGeom>
          <a:gradFill>
            <a:gsLst>
              <a:gs pos="58000">
                <a:schemeClr val="tx1"/>
              </a:gs>
              <a:gs pos="30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885D4702-598E-EFC8-4CD1-62C1555826CD}"/>
              </a:ext>
            </a:extLst>
          </p:cNvPr>
          <p:cNvSpPr>
            <a:spLocks noGrp="1"/>
          </p:cNvSpPr>
          <p:nvPr>
            <p:ph type="title"/>
          </p:nvPr>
        </p:nvSpPr>
        <p:spPr>
          <a:xfrm>
            <a:off x="7848600" y="1122363"/>
            <a:ext cx="4023360" cy="3204134"/>
          </a:xfrm>
        </p:spPr>
        <p:txBody>
          <a:bodyPr vert="horz" lIns="91440" tIns="45720" rIns="91440" bIns="45720" rtlCol="0" anchor="b">
            <a:normAutofit/>
          </a:bodyPr>
          <a:lstStyle/>
          <a:p>
            <a:r>
              <a:rPr lang="en-US" sz="4800" dirty="0">
                <a:solidFill>
                  <a:schemeClr val="bg1"/>
                </a:solidFill>
              </a:rPr>
              <a:t>Research Methods &amp; Data collection in Case Writing</a:t>
            </a:r>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402336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95208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59C92-19F9-344B-DC06-FA02446003E2}"/>
              </a:ext>
            </a:extLst>
          </p:cNvPr>
          <p:cNvSpPr>
            <a:spLocks noGrp="1"/>
          </p:cNvSpPr>
          <p:nvPr>
            <p:ph type="title"/>
          </p:nvPr>
        </p:nvSpPr>
        <p:spPr>
          <a:xfrm>
            <a:off x="848360" y="111125"/>
            <a:ext cx="9951720" cy="467995"/>
          </a:xfrm>
        </p:spPr>
        <p:txBody>
          <a:bodyPr>
            <a:normAutofit fontScale="90000"/>
          </a:bodyPr>
          <a:lstStyle/>
          <a:p>
            <a:r>
              <a:rPr kumimoji="0" lang="en-US" altLang="en-US" sz="31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Key Differences Between Case Studies and Research Papers</a:t>
            </a:r>
            <a:endParaRPr lang="en-IN" dirty="0"/>
          </a:p>
        </p:txBody>
      </p:sp>
      <p:graphicFrame>
        <p:nvGraphicFramePr>
          <p:cNvPr id="4" name="Content Placeholder 3">
            <a:extLst>
              <a:ext uri="{FF2B5EF4-FFF2-40B4-BE49-F238E27FC236}">
                <a16:creationId xmlns:a16="http://schemas.microsoft.com/office/drawing/2014/main" id="{F2E12485-D912-B401-8C3E-B574CDA6BE18}"/>
              </a:ext>
            </a:extLst>
          </p:cNvPr>
          <p:cNvGraphicFramePr>
            <a:graphicFrameLocks noGrp="1"/>
          </p:cNvGraphicFramePr>
          <p:nvPr>
            <p:ph idx="1"/>
            <p:extLst>
              <p:ext uri="{D42A27DB-BD31-4B8C-83A1-F6EECF244321}">
                <p14:modId xmlns:p14="http://schemas.microsoft.com/office/powerpoint/2010/main" val="2966036637"/>
              </p:ext>
            </p:extLst>
          </p:nvPr>
        </p:nvGraphicFramePr>
        <p:xfrm>
          <a:off x="233681" y="579120"/>
          <a:ext cx="11358879" cy="6269315"/>
        </p:xfrm>
        <a:graphic>
          <a:graphicData uri="http://schemas.openxmlformats.org/drawingml/2006/table">
            <a:tbl>
              <a:tblPr firstRow="1" firstCol="1" bandRow="1">
                <a:tableStyleId>{5C22544A-7EE6-4342-B048-85BDC9FD1C3A}</a:tableStyleId>
              </a:tblPr>
              <a:tblGrid>
                <a:gridCol w="1562466">
                  <a:extLst>
                    <a:ext uri="{9D8B030D-6E8A-4147-A177-3AD203B41FA5}">
                      <a16:colId xmlns:a16="http://schemas.microsoft.com/office/drawing/2014/main" val="183932729"/>
                    </a:ext>
                  </a:extLst>
                </a:gridCol>
                <a:gridCol w="5024693">
                  <a:extLst>
                    <a:ext uri="{9D8B030D-6E8A-4147-A177-3AD203B41FA5}">
                      <a16:colId xmlns:a16="http://schemas.microsoft.com/office/drawing/2014/main" val="943274927"/>
                    </a:ext>
                  </a:extLst>
                </a:gridCol>
                <a:gridCol w="4771720">
                  <a:extLst>
                    <a:ext uri="{9D8B030D-6E8A-4147-A177-3AD203B41FA5}">
                      <a16:colId xmlns:a16="http://schemas.microsoft.com/office/drawing/2014/main" val="3141898584"/>
                    </a:ext>
                  </a:extLst>
                </a:gridCol>
              </a:tblGrid>
              <a:tr h="316704">
                <a:tc>
                  <a:txBody>
                    <a:bodyPr/>
                    <a:lstStyle/>
                    <a:p>
                      <a:pPr algn="l">
                        <a:lnSpc>
                          <a:spcPct val="107000"/>
                        </a:lnSpc>
                        <a:spcAft>
                          <a:spcPts val="800"/>
                        </a:spcAft>
                      </a:pPr>
                      <a:r>
                        <a:rPr lang="en-IN" sz="2000" dirty="0">
                          <a:effectLst/>
                        </a:rPr>
                        <a:t>Aspect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pPr>
                      <a:r>
                        <a:rPr lang="en-IN" sz="2000" dirty="0">
                          <a:effectLst/>
                        </a:rPr>
                        <a:t>Case Study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pPr>
                      <a:r>
                        <a:rPr lang="en-IN" sz="2000" dirty="0">
                          <a:effectLst/>
                        </a:rPr>
                        <a:t>Research Paper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488550774"/>
                  </a:ext>
                </a:extLst>
              </a:tr>
              <a:tr h="1038651">
                <a:tc>
                  <a:txBody>
                    <a:bodyPr/>
                    <a:lstStyle/>
                    <a:p>
                      <a:pPr>
                        <a:lnSpc>
                          <a:spcPct val="107000"/>
                        </a:lnSpc>
                        <a:spcAft>
                          <a:spcPts val="800"/>
                        </a:spcAft>
                      </a:pPr>
                      <a:r>
                        <a:rPr lang="en-IN" sz="2000">
                          <a:effectLst/>
                        </a:rPr>
                        <a:t>Purpose</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000" dirty="0" err="1">
                          <a:effectLst/>
                        </a:rPr>
                        <a:t>Analyzes</a:t>
                      </a:r>
                      <a:r>
                        <a:rPr lang="en-IN" sz="2000" dirty="0">
                          <a:effectLst/>
                        </a:rPr>
                        <a:t> a specific issue/decision making.</a:t>
                      </a:r>
                    </a:p>
                    <a:p>
                      <a:pPr>
                        <a:lnSpc>
                          <a:spcPct val="107000"/>
                        </a:lnSpc>
                        <a:spcAft>
                          <a:spcPts val="800"/>
                        </a:spcAft>
                      </a:pPr>
                      <a:r>
                        <a:rPr lang="en-IN" sz="2000" dirty="0">
                          <a:effectLst/>
                        </a:rPr>
                        <a:t>Used for in-depth, Classroom discussion (In-company presentation in some cases)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000" dirty="0">
                          <a:effectLst/>
                        </a:rPr>
                        <a:t>Answers a research question, test a hypothesis, or explore a theory, adds to existing literature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939925801"/>
                  </a:ext>
                </a:extLst>
              </a:tr>
              <a:tr h="692560">
                <a:tc>
                  <a:txBody>
                    <a:bodyPr/>
                    <a:lstStyle/>
                    <a:p>
                      <a:pPr>
                        <a:lnSpc>
                          <a:spcPct val="107000"/>
                        </a:lnSpc>
                        <a:spcAft>
                          <a:spcPts val="800"/>
                        </a:spcAft>
                      </a:pPr>
                      <a:r>
                        <a:rPr lang="en-IN" sz="2000">
                          <a:effectLst/>
                        </a:rPr>
                        <a:t>Focus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000">
                          <a:effectLst/>
                        </a:rPr>
                        <a:t>Specific, practical application of theory in real-world contexts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000" dirty="0">
                          <a:effectLst/>
                        </a:rPr>
                        <a:t>Theoretical, broader generalization of results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03954397"/>
                  </a:ext>
                </a:extLst>
              </a:tr>
              <a:tr h="735310">
                <a:tc>
                  <a:txBody>
                    <a:bodyPr/>
                    <a:lstStyle/>
                    <a:p>
                      <a:pPr>
                        <a:lnSpc>
                          <a:spcPct val="107000"/>
                        </a:lnSpc>
                        <a:spcAft>
                          <a:spcPts val="800"/>
                        </a:spcAft>
                      </a:pPr>
                      <a:r>
                        <a:rPr lang="en-IN" sz="2000">
                          <a:effectLst/>
                        </a:rPr>
                        <a:t>Methodology</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000" dirty="0">
                          <a:effectLst/>
                        </a:rPr>
                        <a:t>Qualitative (and sometimes mixed) data collection, practical analysis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000" dirty="0">
                          <a:effectLst/>
                        </a:rPr>
                        <a:t>Quantitative and/or qualitative methods, hypothesis-driven research</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063346457"/>
                  </a:ext>
                </a:extLst>
              </a:tr>
              <a:tr h="941354">
                <a:tc>
                  <a:txBody>
                    <a:bodyPr/>
                    <a:lstStyle/>
                    <a:p>
                      <a:pPr>
                        <a:lnSpc>
                          <a:spcPct val="107000"/>
                        </a:lnSpc>
                        <a:spcAft>
                          <a:spcPts val="800"/>
                        </a:spcAft>
                      </a:pPr>
                      <a:r>
                        <a:rPr lang="en-IN" sz="2000" dirty="0">
                          <a:effectLst/>
                        </a:rPr>
                        <a:t>Structure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000" dirty="0">
                          <a:effectLst/>
                        </a:rPr>
                        <a:t>Introduction, background, analysis, solutions, </a:t>
                      </a:r>
                    </a:p>
                    <a:p>
                      <a:pPr>
                        <a:lnSpc>
                          <a:spcPct val="107000"/>
                        </a:lnSpc>
                        <a:spcAft>
                          <a:spcPts val="800"/>
                        </a:spcAft>
                      </a:pPr>
                      <a:r>
                        <a:rPr lang="en-IN" sz="2000" dirty="0">
                          <a:effectLst/>
                        </a:rPr>
                        <a:t>(As per Case Publisher format)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000" dirty="0">
                          <a:effectLst/>
                        </a:rPr>
                        <a:t>Abstract, introduction, literature review, methodology, results, discussion, recommendations, limitations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47739330"/>
                  </a:ext>
                </a:extLst>
              </a:tr>
              <a:tr h="650624">
                <a:tc>
                  <a:txBody>
                    <a:bodyPr/>
                    <a:lstStyle/>
                    <a:p>
                      <a:pPr>
                        <a:lnSpc>
                          <a:spcPct val="107000"/>
                        </a:lnSpc>
                        <a:spcAft>
                          <a:spcPts val="800"/>
                        </a:spcAft>
                      </a:pPr>
                      <a:r>
                        <a:rPr lang="en-IN" sz="2000">
                          <a:effectLst/>
                        </a:rPr>
                        <a:t>Length</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000" dirty="0">
                          <a:effectLst/>
                        </a:rPr>
                        <a:t>Typically shorter, 5-15 pages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000" dirty="0">
                          <a:effectLst/>
                        </a:rPr>
                        <a:t>Typically longer, 10-20 plus pages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714044362"/>
                  </a:ext>
                </a:extLst>
              </a:tr>
              <a:tr h="757664">
                <a:tc>
                  <a:txBody>
                    <a:bodyPr/>
                    <a:lstStyle/>
                    <a:p>
                      <a:pPr>
                        <a:lnSpc>
                          <a:spcPct val="107000"/>
                        </a:lnSpc>
                        <a:spcAft>
                          <a:spcPts val="800"/>
                        </a:spcAft>
                      </a:pPr>
                      <a:r>
                        <a:rPr lang="en-IN" sz="2000" dirty="0">
                          <a:effectLst/>
                        </a:rPr>
                        <a:t>Audience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000">
                          <a:effectLst/>
                        </a:rPr>
                        <a:t>Industry professionals, students, and managers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000">
                          <a:effectLst/>
                        </a:rPr>
                        <a:t>Academics, researchers, and scholars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880835886"/>
                  </a:ext>
                </a:extLst>
              </a:tr>
              <a:tr h="1034889">
                <a:tc>
                  <a:txBody>
                    <a:bodyPr/>
                    <a:lstStyle/>
                    <a:p>
                      <a:pPr>
                        <a:lnSpc>
                          <a:spcPct val="107000"/>
                        </a:lnSpc>
                        <a:spcAft>
                          <a:spcPts val="800"/>
                        </a:spcAft>
                      </a:pPr>
                      <a:r>
                        <a:rPr lang="en-IN" sz="2000">
                          <a:effectLst/>
                        </a:rPr>
                        <a:t>Examples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000">
                          <a:effectLst/>
                        </a:rPr>
                        <a:t>Case study on a business strategy or organizational change</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000" dirty="0">
                          <a:effectLst/>
                        </a:rPr>
                        <a:t>Research paper on the impact of marketing on consumer </a:t>
                      </a:r>
                      <a:r>
                        <a:rPr lang="en-IN" sz="2000" dirty="0" err="1">
                          <a:effectLst/>
                        </a:rPr>
                        <a:t>behavior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009196605"/>
                  </a:ext>
                </a:extLst>
              </a:tr>
            </a:tbl>
          </a:graphicData>
        </a:graphic>
      </p:graphicFrame>
    </p:spTree>
    <p:extLst>
      <p:ext uri="{BB962C8B-B14F-4D97-AF65-F5344CB8AC3E}">
        <p14:creationId xmlns:p14="http://schemas.microsoft.com/office/powerpoint/2010/main" val="1708035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F4E750D-E17C-BF67-829E-D65344DFAD1C}"/>
              </a:ext>
            </a:extLst>
          </p:cNvPr>
          <p:cNvSpPr>
            <a:spLocks noGrp="1"/>
          </p:cNvSpPr>
          <p:nvPr>
            <p:ph type="title"/>
          </p:nvPr>
        </p:nvSpPr>
        <p:spPr>
          <a:xfrm>
            <a:off x="838200" y="365125"/>
            <a:ext cx="10515600" cy="813435"/>
          </a:xfrm>
        </p:spPr>
        <p:txBody>
          <a:bodyPr>
            <a:normAutofit fontScale="90000"/>
          </a:bodyPr>
          <a:lstStyle/>
          <a:p>
            <a:r>
              <a:rPr lang="en-IN" sz="3600" b="1" dirty="0">
                <a:effectLst/>
                <a:latin typeface="Times New Roman" panose="02020603050405020304" pitchFamily="18" charset="0"/>
                <a:ea typeface="Times New Roman" panose="02020603050405020304" pitchFamily="18" charset="0"/>
                <a:cs typeface="Times New Roman" panose="02020603050405020304" pitchFamily="18" charset="0"/>
              </a:rPr>
              <a:t>Primary Data and its Sources</a:t>
            </a:r>
            <a:br>
              <a:rPr lang="en-IN" sz="36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13" name="Content Placeholder 12">
            <a:extLst>
              <a:ext uri="{FF2B5EF4-FFF2-40B4-BE49-F238E27FC236}">
                <a16:creationId xmlns:a16="http://schemas.microsoft.com/office/drawing/2014/main" id="{296C492A-4CF9-FC9F-F379-B5032DECF284}"/>
              </a:ext>
            </a:extLst>
          </p:cNvPr>
          <p:cNvSpPr>
            <a:spLocks noGrp="1"/>
          </p:cNvSpPr>
          <p:nvPr>
            <p:ph idx="1"/>
          </p:nvPr>
        </p:nvSpPr>
        <p:spPr>
          <a:xfrm>
            <a:off x="589280" y="1381760"/>
            <a:ext cx="10764520" cy="5029200"/>
          </a:xfrm>
        </p:spPr>
        <p:txBody>
          <a:bodyPr>
            <a:normAutofit fontScale="92500" lnSpcReduction="20000"/>
          </a:bodyPr>
          <a:lstStyle/>
          <a:p>
            <a:pPr algn="just">
              <a:lnSpc>
                <a:spcPct val="107000"/>
              </a:lnSpc>
              <a:spcAft>
                <a:spcPts val="800"/>
              </a:spcAft>
            </a:pPr>
            <a:r>
              <a:rPr lang="en-IN" sz="1900" dirty="0">
                <a:effectLst/>
                <a:latin typeface="Times New Roman" panose="02020603050405020304" pitchFamily="18" charset="0"/>
                <a:ea typeface="Times New Roman" panose="02020603050405020304" pitchFamily="18" charset="0"/>
                <a:cs typeface="Times New Roman" panose="02020603050405020304" pitchFamily="18" charset="0"/>
              </a:rPr>
              <a:t>Primary data is original, first-hand information that is collected directly from the source. It is tailored specifically to the research at hand. Primary data is often unique to the study sample and provides specific insights into the situation being studied.</a:t>
            </a:r>
            <a:endParaRPr lang="en-IN" sz="17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tabLst>
                <a:tab pos="457200" algn="l"/>
              </a:tabLst>
            </a:pPr>
            <a:r>
              <a:rPr lang="en-IN" sz="1900" b="1" dirty="0">
                <a:effectLst/>
                <a:latin typeface="Times New Roman" panose="02020603050405020304" pitchFamily="18" charset="0"/>
                <a:ea typeface="Times New Roman" panose="02020603050405020304" pitchFamily="18" charset="0"/>
                <a:cs typeface="Times New Roman" panose="02020603050405020304" pitchFamily="18" charset="0"/>
              </a:rPr>
              <a:t>Interviews: : </a:t>
            </a:r>
            <a:r>
              <a:rPr lang="en-IN" sz="1900" dirty="0">
                <a:effectLst/>
                <a:latin typeface="Times New Roman" panose="02020603050405020304" pitchFamily="18" charset="0"/>
                <a:ea typeface="Times New Roman" panose="02020603050405020304" pitchFamily="18" charset="0"/>
                <a:cs typeface="Times New Roman" panose="02020603050405020304" pitchFamily="18" charset="0"/>
              </a:rPr>
              <a:t>Structured or semi-structured interviews with individuals who are directly involved in the case (e.g., managers, employees, stakeholders, customers).</a:t>
            </a:r>
          </a:p>
          <a:p>
            <a:pPr marL="342900" lvl="0" indent="-342900" algn="just">
              <a:lnSpc>
                <a:spcPct val="107000"/>
              </a:lnSpc>
              <a:spcAft>
                <a:spcPts val="800"/>
              </a:spcAft>
              <a:buFont typeface="+mj-lt"/>
              <a:buAutoNum type="arabicPeriod"/>
              <a:tabLst>
                <a:tab pos="457200" algn="l"/>
              </a:tabLst>
            </a:pPr>
            <a:r>
              <a:rPr lang="en-IN" sz="1900" b="1" dirty="0">
                <a:effectLst/>
                <a:latin typeface="Times New Roman" panose="02020603050405020304" pitchFamily="18" charset="0"/>
                <a:ea typeface="Times New Roman" panose="02020603050405020304" pitchFamily="18" charset="0"/>
                <a:cs typeface="Times New Roman" panose="02020603050405020304" pitchFamily="18" charset="0"/>
              </a:rPr>
              <a:t>Surveys and Questionnaires: </a:t>
            </a:r>
            <a:r>
              <a:rPr lang="en-IN" sz="1900" dirty="0">
                <a:effectLst/>
                <a:latin typeface="Times New Roman" panose="02020603050405020304" pitchFamily="18" charset="0"/>
                <a:ea typeface="Times New Roman" panose="02020603050405020304" pitchFamily="18" charset="0"/>
                <a:cs typeface="Times New Roman" panose="02020603050405020304" pitchFamily="18" charset="0"/>
              </a:rPr>
              <a:t>These are used to gather quantitative or qualitative data from a larger sample of people involved in or affected by the case question. May have close ended rating questions or open ended questions. </a:t>
            </a:r>
          </a:p>
          <a:p>
            <a:pPr marL="342900" lvl="0" indent="-342900" algn="just">
              <a:lnSpc>
                <a:spcPct val="107000"/>
              </a:lnSpc>
              <a:spcAft>
                <a:spcPts val="800"/>
              </a:spcAft>
              <a:buFont typeface="+mj-lt"/>
              <a:buAutoNum type="arabicPeriod"/>
              <a:tabLst>
                <a:tab pos="457200" algn="l"/>
              </a:tabLst>
            </a:pPr>
            <a:r>
              <a:rPr lang="en-IN" sz="1900" b="1" dirty="0">
                <a:effectLst/>
                <a:latin typeface="Times New Roman" panose="02020603050405020304" pitchFamily="18" charset="0"/>
                <a:ea typeface="Times New Roman" panose="02020603050405020304" pitchFamily="18" charset="0"/>
                <a:cs typeface="Times New Roman" panose="02020603050405020304" pitchFamily="18" charset="0"/>
              </a:rPr>
              <a:t>Observations: </a:t>
            </a:r>
            <a:r>
              <a:rPr lang="en-IN" sz="1900" dirty="0">
                <a:effectLst/>
                <a:latin typeface="Times New Roman" panose="02020603050405020304" pitchFamily="18" charset="0"/>
                <a:ea typeface="Times New Roman" panose="02020603050405020304" pitchFamily="18" charset="0"/>
                <a:cs typeface="Times New Roman" panose="02020603050405020304" pitchFamily="18" charset="0"/>
              </a:rPr>
              <a:t>Directly observing </a:t>
            </a:r>
            <a:r>
              <a:rPr lang="en-IN" sz="1900" dirty="0" err="1">
                <a:effectLst/>
                <a:latin typeface="Times New Roman" panose="02020603050405020304" pitchFamily="18" charset="0"/>
                <a:ea typeface="Times New Roman" panose="02020603050405020304" pitchFamily="18" charset="0"/>
                <a:cs typeface="Times New Roman" panose="02020603050405020304" pitchFamily="18" charset="0"/>
              </a:rPr>
              <a:t>behavior</a:t>
            </a:r>
            <a:r>
              <a:rPr lang="en-IN" sz="1900" dirty="0">
                <a:effectLst/>
                <a:latin typeface="Times New Roman" panose="02020603050405020304" pitchFamily="18" charset="0"/>
                <a:ea typeface="Times New Roman" panose="02020603050405020304" pitchFamily="18" charset="0"/>
                <a:cs typeface="Times New Roman" panose="02020603050405020304" pitchFamily="18" charset="0"/>
              </a:rPr>
              <a:t>, processes, or events can yield rich data. This is especially useful in fields like organizational </a:t>
            </a:r>
            <a:r>
              <a:rPr lang="en-IN" sz="1900" dirty="0" err="1">
                <a:effectLst/>
                <a:latin typeface="Times New Roman" panose="02020603050405020304" pitchFamily="18" charset="0"/>
                <a:ea typeface="Times New Roman" panose="02020603050405020304" pitchFamily="18" charset="0"/>
                <a:cs typeface="Times New Roman" panose="02020603050405020304" pitchFamily="18" charset="0"/>
              </a:rPr>
              <a:t>behavior</a:t>
            </a:r>
            <a:r>
              <a:rPr lang="en-IN" sz="1900" dirty="0">
                <a:effectLst/>
                <a:latin typeface="Times New Roman" panose="02020603050405020304" pitchFamily="18" charset="0"/>
                <a:ea typeface="Times New Roman" panose="02020603050405020304" pitchFamily="18" charset="0"/>
                <a:cs typeface="Times New Roman" panose="02020603050405020304" pitchFamily="18" charset="0"/>
              </a:rPr>
              <a:t>, marketing</a:t>
            </a:r>
            <a:r>
              <a:rPr lang="en-IN" sz="1900" dirty="0">
                <a:latin typeface="Times New Roman" panose="02020603050405020304" pitchFamily="18" charset="0"/>
                <a:ea typeface="Times New Roman" panose="02020603050405020304" pitchFamily="18" charset="0"/>
                <a:cs typeface="Times New Roman" panose="02020603050405020304" pitchFamily="18" charset="0"/>
              </a:rPr>
              <a:t> etc.</a:t>
            </a:r>
            <a:endParaRPr lang="en-IN" sz="19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07000"/>
              </a:lnSpc>
              <a:spcAft>
                <a:spcPts val="800"/>
              </a:spcAft>
              <a:buFont typeface="+mj-lt"/>
              <a:buAutoNum type="arabicPeriod"/>
              <a:tabLst>
                <a:tab pos="457200" algn="l"/>
              </a:tabLst>
            </a:pPr>
            <a:r>
              <a:rPr lang="en-IN" sz="1900" b="1" dirty="0">
                <a:effectLst/>
                <a:latin typeface="Times New Roman" panose="02020603050405020304" pitchFamily="18" charset="0"/>
                <a:ea typeface="Times New Roman" panose="02020603050405020304" pitchFamily="18" charset="0"/>
                <a:cs typeface="Times New Roman" panose="02020603050405020304" pitchFamily="18" charset="0"/>
              </a:rPr>
              <a:t>Focus Groups: </a:t>
            </a:r>
            <a:r>
              <a:rPr lang="en-IN" sz="1900" dirty="0">
                <a:effectLst/>
                <a:latin typeface="Times New Roman" panose="02020603050405020304" pitchFamily="18" charset="0"/>
                <a:ea typeface="Times New Roman" panose="02020603050405020304" pitchFamily="18" charset="0"/>
                <a:cs typeface="Times New Roman" panose="02020603050405020304" pitchFamily="18" charset="0"/>
              </a:rPr>
              <a:t>Small groups of participants discuss the case topic, providing rich qualitative data through group interactions.</a:t>
            </a:r>
            <a:endParaRPr lang="en-IN" sz="17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tabLst>
                <a:tab pos="457200" algn="l"/>
              </a:tabLst>
            </a:pPr>
            <a:r>
              <a:rPr lang="en-IN" sz="1900" b="1" dirty="0">
                <a:effectLst/>
                <a:latin typeface="Times New Roman" panose="02020603050405020304" pitchFamily="18" charset="0"/>
                <a:ea typeface="Times New Roman" panose="02020603050405020304" pitchFamily="18" charset="0"/>
                <a:cs typeface="Times New Roman" panose="02020603050405020304" pitchFamily="18" charset="0"/>
              </a:rPr>
              <a:t>Experiments: </a:t>
            </a:r>
            <a:r>
              <a:rPr lang="en-IN" sz="1900" dirty="0">
                <a:effectLst/>
                <a:latin typeface="Times New Roman" panose="02020603050405020304" pitchFamily="18" charset="0"/>
                <a:ea typeface="Times New Roman" panose="02020603050405020304" pitchFamily="18" charset="0"/>
                <a:cs typeface="Times New Roman" panose="02020603050405020304" pitchFamily="18" charset="0"/>
              </a:rPr>
              <a:t>In some cases, researchers may conduct controlled experiments to observe cause-and-effect relationships between variables.</a:t>
            </a:r>
            <a:endParaRPr lang="en-IN" sz="17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178193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40949-F89A-26A1-1985-71447D65EAFF}"/>
              </a:ext>
            </a:extLst>
          </p:cNvPr>
          <p:cNvSpPr>
            <a:spLocks noGrp="1"/>
          </p:cNvSpPr>
          <p:nvPr>
            <p:ph type="title"/>
          </p:nvPr>
        </p:nvSpPr>
        <p:spPr>
          <a:xfrm>
            <a:off x="838200" y="90805"/>
            <a:ext cx="10515600" cy="1325563"/>
          </a:xfrm>
        </p:spPr>
        <p:txBody>
          <a:bodyPr>
            <a:normAutofit/>
          </a:bodyPr>
          <a:lstStyle/>
          <a:p>
            <a:r>
              <a:rPr lang="en-IN" sz="3200" b="1" dirty="0">
                <a:latin typeface="Times New Roman" panose="02020603050405020304" pitchFamily="18" charset="0"/>
                <a:cs typeface="Times New Roman" panose="02020603050405020304" pitchFamily="18" charset="0"/>
              </a:rPr>
              <a:t>Secondary Data &amp; its Sources</a:t>
            </a:r>
          </a:p>
        </p:txBody>
      </p:sp>
      <p:sp>
        <p:nvSpPr>
          <p:cNvPr id="3" name="Content Placeholder 2">
            <a:extLst>
              <a:ext uri="{FF2B5EF4-FFF2-40B4-BE49-F238E27FC236}">
                <a16:creationId xmlns:a16="http://schemas.microsoft.com/office/drawing/2014/main" id="{738BA942-0FCA-E216-3428-DB2BFF13D89C}"/>
              </a:ext>
            </a:extLst>
          </p:cNvPr>
          <p:cNvSpPr>
            <a:spLocks noGrp="1"/>
          </p:cNvSpPr>
          <p:nvPr>
            <p:ph idx="1"/>
          </p:nvPr>
        </p:nvSpPr>
        <p:spPr>
          <a:xfrm>
            <a:off x="355600" y="1416368"/>
            <a:ext cx="10998200" cy="4760595"/>
          </a:xfrm>
        </p:spPr>
        <p:txBody>
          <a:bodyPr>
            <a:normAutofit/>
          </a:bodyPr>
          <a:lstStyle/>
          <a:p>
            <a:pPr algn="just">
              <a:lnSpc>
                <a:spcPct val="107000"/>
              </a:lnSpc>
              <a:spcAft>
                <a:spcPts val="800"/>
              </a:spcAft>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Information that has already been collected, </a:t>
            </a:r>
            <a:r>
              <a:rPr lang="en-IN" sz="1600" dirty="0" err="1">
                <a:effectLst/>
                <a:latin typeface="Times New Roman" panose="02020603050405020304" pitchFamily="18" charset="0"/>
                <a:ea typeface="Times New Roman" panose="02020603050405020304" pitchFamily="18" charset="0"/>
                <a:cs typeface="Times New Roman" panose="02020603050405020304" pitchFamily="18" charset="0"/>
              </a:rPr>
              <a:t>analyzed</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and published by others. </a:t>
            </a:r>
          </a:p>
          <a:p>
            <a:pPr algn="just">
              <a:lnSpc>
                <a:spcPct val="107000"/>
              </a:lnSpc>
              <a:spcAft>
                <a:spcPts val="800"/>
              </a:spcAft>
              <a:buFont typeface="+mj-lt"/>
              <a:buAutoNum type="arabicPeriod"/>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Academic Journals and Research Papers:, </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Published academic studies, articles, and books that provide theoretical frameworks, models, and prior research relevant to the case.</a:t>
            </a:r>
          </a:p>
          <a:p>
            <a:pPr algn="just">
              <a:lnSpc>
                <a:spcPct val="107000"/>
              </a:lnSpc>
              <a:spcAft>
                <a:spcPts val="800"/>
              </a:spcAft>
              <a:buFont typeface="+mj-lt"/>
              <a:buAutoNum type="arabicPeriod"/>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Government Reports and Publications: </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Statistical data, regulations, policy documents, and other government publications.</a:t>
            </a:r>
          </a:p>
          <a:p>
            <a:pPr algn="just">
              <a:lnSpc>
                <a:spcPct val="107000"/>
              </a:lnSpc>
              <a:spcAft>
                <a:spcPts val="800"/>
              </a:spcAft>
              <a:buFont typeface="+mj-lt"/>
              <a:buAutoNum type="arabicPeriod"/>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Industry Reports and Market Research: </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Data published by market research firms, industry reports, and company white papers that provide market analysis, trends, or competitive intelligence.</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buFont typeface="+mj-lt"/>
              <a:buAutoNum type="arabicPeriod"/>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News Articles and Media Reports: </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News outlets and media sources (recent Indigo crisi</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s) </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can provide context and current event data related to a case study. </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buFont typeface="+mj-lt"/>
              <a:buAutoNum type="arabicPeriod"/>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Company Reports (Annual Reports, Financial Statements): </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Many companies publish reports on their operations, financial performance, and future outlooks, which can be used in case studies to understand company strategies, risks, and performance. </a:t>
            </a:r>
          </a:p>
          <a:p>
            <a:pPr algn="just">
              <a:lnSpc>
                <a:spcPct val="107000"/>
              </a:lnSpc>
              <a:spcAft>
                <a:spcPts val="800"/>
              </a:spcAft>
              <a:buFont typeface="+mj-lt"/>
              <a:buAutoNum type="arabicPeriod"/>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Books and Textbooks: </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Scholarly books or textbooks that provide an overview of theories, principles, or historical case examples. </a:t>
            </a:r>
            <a:endParaRPr lang="en-IN" sz="3600" dirty="0"/>
          </a:p>
        </p:txBody>
      </p:sp>
    </p:spTree>
    <p:extLst>
      <p:ext uri="{BB962C8B-B14F-4D97-AF65-F5344CB8AC3E}">
        <p14:creationId xmlns:p14="http://schemas.microsoft.com/office/powerpoint/2010/main" val="1416716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44B47-9170-026A-BE43-834BF2CFA509}"/>
              </a:ext>
            </a:extLst>
          </p:cNvPr>
          <p:cNvSpPr>
            <a:spLocks noGrp="1"/>
          </p:cNvSpPr>
          <p:nvPr>
            <p:ph type="title"/>
          </p:nvPr>
        </p:nvSpPr>
        <p:spPr>
          <a:xfrm>
            <a:off x="838200" y="365125"/>
            <a:ext cx="10515600" cy="589915"/>
          </a:xfrm>
        </p:spPr>
        <p:txBody>
          <a:bodyPr>
            <a:normAutofit fontScale="90000"/>
          </a:bodyPr>
          <a:lstStyle/>
          <a:p>
            <a:r>
              <a:rPr lang="en-US" altLang="en-US" sz="2900" b="1" dirty="0">
                <a:latin typeface="Times New Roman" panose="02020603050405020304" pitchFamily="18" charset="0"/>
                <a:cs typeface="Times New Roman" panose="02020603050405020304" pitchFamily="18" charset="0"/>
              </a:rPr>
              <a:t>Quantitative vs. Qualitative Data Analysis:</a:t>
            </a:r>
            <a:br>
              <a:rPr lang="en-US" altLang="en-US" sz="2900" b="1" dirty="0">
                <a:latin typeface="Times New Roman" panose="02020603050405020304" pitchFamily="18" charset="0"/>
                <a:cs typeface="Times New Roman" panose="02020603050405020304" pitchFamily="18" charset="0"/>
              </a:rPr>
            </a:br>
            <a:endParaRPr lang="en-IN" sz="2900" b="1"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CB4C92B7-54F6-59C8-CE12-74688C551FF2}"/>
              </a:ext>
            </a:extLst>
          </p:cNvPr>
          <p:cNvGraphicFramePr>
            <a:graphicFrameLocks noGrp="1"/>
          </p:cNvGraphicFramePr>
          <p:nvPr>
            <p:ph idx="1"/>
            <p:extLst>
              <p:ext uri="{D42A27DB-BD31-4B8C-83A1-F6EECF244321}">
                <p14:modId xmlns:p14="http://schemas.microsoft.com/office/powerpoint/2010/main" val="2574293126"/>
              </p:ext>
            </p:extLst>
          </p:nvPr>
        </p:nvGraphicFramePr>
        <p:xfrm>
          <a:off x="254000" y="863600"/>
          <a:ext cx="11490960" cy="5253041"/>
        </p:xfrm>
        <a:graphic>
          <a:graphicData uri="http://schemas.openxmlformats.org/drawingml/2006/table">
            <a:tbl>
              <a:tblPr firstRow="1" firstCol="1" bandRow="1">
                <a:tableStyleId>{5C22544A-7EE6-4342-B048-85BDC9FD1C3A}</a:tableStyleId>
              </a:tblPr>
              <a:tblGrid>
                <a:gridCol w="1463040">
                  <a:extLst>
                    <a:ext uri="{9D8B030D-6E8A-4147-A177-3AD203B41FA5}">
                      <a16:colId xmlns:a16="http://schemas.microsoft.com/office/drawing/2014/main" val="244375148"/>
                    </a:ext>
                  </a:extLst>
                </a:gridCol>
                <a:gridCol w="4903712">
                  <a:extLst>
                    <a:ext uri="{9D8B030D-6E8A-4147-A177-3AD203B41FA5}">
                      <a16:colId xmlns:a16="http://schemas.microsoft.com/office/drawing/2014/main" val="356224593"/>
                    </a:ext>
                  </a:extLst>
                </a:gridCol>
                <a:gridCol w="5124208">
                  <a:extLst>
                    <a:ext uri="{9D8B030D-6E8A-4147-A177-3AD203B41FA5}">
                      <a16:colId xmlns:a16="http://schemas.microsoft.com/office/drawing/2014/main" val="4073748478"/>
                    </a:ext>
                  </a:extLst>
                </a:gridCol>
              </a:tblGrid>
              <a:tr h="558907">
                <a:tc>
                  <a:txBody>
                    <a:bodyPr/>
                    <a:lstStyle/>
                    <a:p>
                      <a:pPr algn="ctr">
                        <a:lnSpc>
                          <a:spcPct val="107000"/>
                        </a:lnSpc>
                        <a:spcAft>
                          <a:spcPts val="800"/>
                        </a:spcAft>
                      </a:pPr>
                      <a:r>
                        <a:rPr lang="en-IN" sz="1800" dirty="0">
                          <a:effectLst/>
                        </a:rPr>
                        <a:t>Aspect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pPr>
                      <a:r>
                        <a:rPr lang="en-IN" sz="1800" dirty="0">
                          <a:effectLst/>
                        </a:rPr>
                        <a:t>Quantitative Data Analysis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pPr>
                      <a:r>
                        <a:rPr lang="en-IN" sz="1800">
                          <a:effectLst/>
                        </a:rPr>
                        <a:t>Qualitative Data Analysis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0193368"/>
                  </a:ext>
                </a:extLst>
              </a:tr>
              <a:tr h="647156">
                <a:tc>
                  <a:txBody>
                    <a:bodyPr/>
                    <a:lstStyle/>
                    <a:p>
                      <a:pPr>
                        <a:lnSpc>
                          <a:spcPct val="107000"/>
                        </a:lnSpc>
                        <a:spcAft>
                          <a:spcPts val="800"/>
                        </a:spcAft>
                      </a:pPr>
                      <a:r>
                        <a:rPr lang="en-IN" sz="1800">
                          <a:effectLst/>
                        </a:rPr>
                        <a:t>Focus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800" dirty="0">
                          <a:effectLst/>
                        </a:rPr>
                        <a:t>Numerical patterns, measurements, relationships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800" dirty="0">
                          <a:effectLst/>
                        </a:rPr>
                        <a:t>Understanding experiences, meanings, and themes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16251819"/>
                  </a:ext>
                </a:extLst>
              </a:tr>
              <a:tr h="917377">
                <a:tc>
                  <a:txBody>
                    <a:bodyPr/>
                    <a:lstStyle/>
                    <a:p>
                      <a:pPr>
                        <a:lnSpc>
                          <a:spcPct val="107000"/>
                        </a:lnSpc>
                        <a:spcAft>
                          <a:spcPts val="800"/>
                        </a:spcAft>
                      </a:pPr>
                      <a:r>
                        <a:rPr lang="en-IN" sz="1800">
                          <a:effectLst/>
                        </a:rPr>
                        <a:t>Nature of Data</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800" dirty="0">
                          <a:effectLst/>
                        </a:rPr>
                        <a:t>Numerical, measurable data (e.g., sales figures, ratings)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800">
                          <a:effectLst/>
                        </a:rPr>
                        <a:t>Non-numerical, textual or visual data (e.g., interviews, observations)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75853368"/>
                  </a:ext>
                </a:extLst>
              </a:tr>
              <a:tr h="647156">
                <a:tc>
                  <a:txBody>
                    <a:bodyPr/>
                    <a:lstStyle/>
                    <a:p>
                      <a:pPr>
                        <a:lnSpc>
                          <a:spcPct val="107000"/>
                        </a:lnSpc>
                        <a:spcAft>
                          <a:spcPts val="800"/>
                        </a:spcAft>
                      </a:pPr>
                      <a:r>
                        <a:rPr lang="en-IN" sz="1800">
                          <a:effectLst/>
                        </a:rPr>
                        <a:t>Methods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800" dirty="0">
                          <a:effectLst/>
                        </a:rPr>
                        <a:t>Descriptive statistics, regression, correlation analysis etc.</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800" dirty="0">
                          <a:effectLst/>
                        </a:rPr>
                        <a:t>Thematic analysis, content analysis, narrative analysis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962394733"/>
                  </a:ext>
                </a:extLst>
              </a:tr>
              <a:tr h="805724">
                <a:tc>
                  <a:txBody>
                    <a:bodyPr/>
                    <a:lstStyle/>
                    <a:p>
                      <a:pPr>
                        <a:lnSpc>
                          <a:spcPct val="107000"/>
                        </a:lnSpc>
                        <a:spcAft>
                          <a:spcPts val="800"/>
                        </a:spcAft>
                      </a:pPr>
                      <a:r>
                        <a:rPr lang="en-IN" sz="1800">
                          <a:effectLst/>
                        </a:rPr>
                        <a:t>Objective</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800">
                          <a:effectLst/>
                        </a:rPr>
                        <a:t>To quantify data and generalize results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800" dirty="0">
                          <a:effectLst/>
                        </a:rPr>
                        <a:t>To understand underlying reasons, experiences, and meanings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683792982"/>
                  </a:ext>
                </a:extLst>
              </a:tr>
              <a:tr h="558907">
                <a:tc>
                  <a:txBody>
                    <a:bodyPr/>
                    <a:lstStyle/>
                    <a:p>
                      <a:pPr>
                        <a:lnSpc>
                          <a:spcPct val="107000"/>
                        </a:lnSpc>
                        <a:spcAft>
                          <a:spcPts val="800"/>
                        </a:spcAft>
                      </a:pPr>
                      <a:r>
                        <a:rPr lang="en-IN" sz="1800">
                          <a:effectLst/>
                        </a:rPr>
                        <a:t>Outcome</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800">
                          <a:effectLst/>
                        </a:rPr>
                        <a:t>Statistical relationships, trends, and patterns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800" dirty="0">
                          <a:effectLst/>
                        </a:rPr>
                        <a:t>In-depth themes, narratives, and insights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7515747"/>
                  </a:ext>
                </a:extLst>
              </a:tr>
              <a:tr h="558907">
                <a:tc>
                  <a:txBody>
                    <a:bodyPr/>
                    <a:lstStyle/>
                    <a:p>
                      <a:pPr>
                        <a:lnSpc>
                          <a:spcPct val="107000"/>
                        </a:lnSpc>
                        <a:spcAft>
                          <a:spcPts val="800"/>
                        </a:spcAft>
                      </a:pPr>
                      <a:r>
                        <a:rPr lang="en-IN" sz="1800">
                          <a:effectLst/>
                        </a:rPr>
                        <a:t>Strengths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800">
                          <a:effectLst/>
                        </a:rPr>
                        <a:t>Objectivity, generalizability, replicability</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800" dirty="0">
                          <a:effectLst/>
                        </a:rPr>
                        <a:t>Rich, detailed insights, context-rich understanding</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9124269"/>
                  </a:ext>
                </a:extLst>
              </a:tr>
              <a:tr h="558907">
                <a:tc>
                  <a:txBody>
                    <a:bodyPr/>
                    <a:lstStyle/>
                    <a:p>
                      <a:pPr>
                        <a:lnSpc>
                          <a:spcPct val="107000"/>
                        </a:lnSpc>
                        <a:spcAft>
                          <a:spcPts val="800"/>
                        </a:spcAft>
                      </a:pPr>
                      <a:r>
                        <a:rPr lang="en-IN" sz="1800" dirty="0">
                          <a:effectLst/>
                        </a:rPr>
                        <a:t>Challenges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800">
                          <a:effectLst/>
                        </a:rPr>
                        <a:t>Limited context, may overlook nuances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800" dirty="0">
                          <a:effectLst/>
                        </a:rPr>
                        <a:t>Subjectivity, time-consuming, difficult to generalize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78600658"/>
                  </a:ext>
                </a:extLst>
              </a:tr>
            </a:tbl>
          </a:graphicData>
        </a:graphic>
      </p:graphicFrame>
    </p:spTree>
    <p:extLst>
      <p:ext uri="{BB962C8B-B14F-4D97-AF65-F5344CB8AC3E}">
        <p14:creationId xmlns:p14="http://schemas.microsoft.com/office/powerpoint/2010/main" val="1567425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E24E7-757C-975B-B826-0E7C0EC583A1}"/>
              </a:ext>
            </a:extLst>
          </p:cNvPr>
          <p:cNvSpPr>
            <a:spLocks noGrp="1"/>
          </p:cNvSpPr>
          <p:nvPr>
            <p:ph type="title"/>
          </p:nvPr>
        </p:nvSpPr>
        <p:spPr/>
        <p:txBody>
          <a:bodyPr>
            <a:normAutofit fontScale="90000"/>
          </a:bodyPr>
          <a:lstStyle/>
          <a:p>
            <a:r>
              <a:rPr lang="en-IN" sz="3200" b="1" dirty="0">
                <a:latin typeface="Times New Roman" panose="02020603050405020304" pitchFamily="18" charset="0"/>
                <a:cs typeface="Times New Roman" panose="02020603050405020304" pitchFamily="18" charset="0"/>
              </a:rPr>
              <a:t>Mixed Methods Approach</a:t>
            </a:r>
            <a:br>
              <a:rPr lang="en-IN" sz="3200" b="1" dirty="0">
                <a:latin typeface="Times New Roman" panose="02020603050405020304" pitchFamily="18" charset="0"/>
                <a:cs typeface="Times New Roman" panose="02020603050405020304" pitchFamily="18" charset="0"/>
              </a:rPr>
            </a:br>
            <a:r>
              <a:rPr lang="en-IN" sz="3200" b="1" dirty="0">
                <a:latin typeface="Times New Roman" panose="02020603050405020304" pitchFamily="18" charset="0"/>
                <a:cs typeface="Times New Roman" panose="02020603050405020304" pitchFamily="18" charset="0"/>
              </a:rPr>
              <a:t>(Combining Quantitative and Qualitative Methods)</a:t>
            </a:r>
            <a:br>
              <a:rPr lang="en-IN" sz="3200" b="1" dirty="0">
                <a:latin typeface="Times New Roman" panose="02020603050405020304" pitchFamily="18" charset="0"/>
                <a:cs typeface="Times New Roman" panose="02020603050405020304" pitchFamily="18" charset="0"/>
              </a:rPr>
            </a:b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0B59DCF-B518-0155-872D-1F97E81FA772}"/>
              </a:ext>
            </a:extLst>
          </p:cNvPr>
          <p:cNvSpPr>
            <a:spLocks noGrp="1"/>
          </p:cNvSpPr>
          <p:nvPr>
            <p:ph idx="1"/>
          </p:nvPr>
        </p:nvSpPr>
        <p:spPr/>
        <p:txBody>
          <a:bodyPr>
            <a:normAutofit/>
          </a:bodyPr>
          <a:lstStyle/>
          <a:p>
            <a:pPr>
              <a:lnSpc>
                <a:spcPct val="107000"/>
              </a:lnSpc>
              <a:spcAft>
                <a:spcPts val="800"/>
              </a:spcAft>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Provides a more comprehensive understanding by combining the strengths of both approaches.</a:t>
            </a:r>
          </a:p>
          <a:p>
            <a:pPr>
              <a:lnSpc>
                <a:spcPct val="107000"/>
              </a:lnSpc>
              <a:spcAft>
                <a:spcPts val="800"/>
              </a:spcAft>
            </a:pPr>
            <a:r>
              <a:rPr lang="en-IN" sz="2000" b="1" dirty="0">
                <a:effectLst/>
                <a:latin typeface="Times New Roman" panose="02020603050405020304" pitchFamily="18" charset="0"/>
                <a:ea typeface="Times New Roman" panose="02020603050405020304" pitchFamily="18" charset="0"/>
                <a:cs typeface="Times New Roman" panose="02020603050405020304" pitchFamily="18" charset="0"/>
              </a:rPr>
              <a:t>Quantitative data</a:t>
            </a: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 provides measurable, statistical insights (e.g., sales figures, hiring numbers etc.).</a:t>
            </a: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2000" b="1" dirty="0">
                <a:effectLst/>
                <a:latin typeface="Times New Roman" panose="02020603050405020304" pitchFamily="18" charset="0"/>
                <a:ea typeface="Times New Roman" panose="02020603050405020304" pitchFamily="18" charset="0"/>
                <a:cs typeface="Times New Roman" panose="02020603050405020304" pitchFamily="18" charset="0"/>
              </a:rPr>
              <a:t>Qualitative data</a:t>
            </a: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 provides deeper, contextual understanding and personal perspectives (e.g., interview responses, customer stories).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IN" sz="2000" dirty="0">
                <a:effectLst/>
                <a:latin typeface="Times New Roman" panose="02020603050405020304" pitchFamily="18" charset="0"/>
                <a:ea typeface="Times New Roman" panose="02020603050405020304" pitchFamily="18" charset="0"/>
              </a:rPr>
              <a:t>Using both approaches together can give you a fuller picture of the case and help to validate your findings with both numerical evidence and rich, descriptive context.</a:t>
            </a:r>
            <a:endParaRPr lang="en-IN" sz="4400" dirty="0"/>
          </a:p>
        </p:txBody>
      </p:sp>
    </p:spTree>
    <p:extLst>
      <p:ext uri="{BB962C8B-B14F-4D97-AF65-F5344CB8AC3E}">
        <p14:creationId xmlns:p14="http://schemas.microsoft.com/office/powerpoint/2010/main" val="2202047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A3D2A-4473-F291-1EC8-FF9967800EA4}"/>
              </a:ext>
            </a:extLst>
          </p:cNvPr>
          <p:cNvSpPr>
            <a:spLocks noGrp="1"/>
          </p:cNvSpPr>
          <p:nvPr>
            <p:ph type="title"/>
          </p:nvPr>
        </p:nvSpPr>
        <p:spPr>
          <a:xfrm>
            <a:off x="838200" y="-254635"/>
            <a:ext cx="10515600" cy="1325563"/>
          </a:xfrm>
        </p:spPr>
        <p:txBody>
          <a:bodyPr>
            <a:normAutofit/>
          </a:bodyPr>
          <a:lstStyle/>
          <a:p>
            <a:r>
              <a:rPr lang="en-IN" sz="2600" b="1" dirty="0">
                <a:latin typeface="Times New Roman" panose="02020603050405020304" pitchFamily="18" charset="0"/>
                <a:cs typeface="Times New Roman" panose="02020603050405020304" pitchFamily="18" charset="0"/>
              </a:rPr>
              <a:t>How to cite sources for your case study?</a:t>
            </a:r>
          </a:p>
        </p:txBody>
      </p:sp>
      <p:pic>
        <p:nvPicPr>
          <p:cNvPr id="5" name="Content Placeholder 4" descr="A screenshot of a computer&#10;&#10;Description automatically generated">
            <a:extLst>
              <a:ext uri="{FF2B5EF4-FFF2-40B4-BE49-F238E27FC236}">
                <a16:creationId xmlns:a16="http://schemas.microsoft.com/office/drawing/2014/main" id="{400BE541-21B8-034F-057A-55C5EDB5F1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7040" y="823754"/>
            <a:ext cx="11460480" cy="6135053"/>
          </a:xfrm>
        </p:spPr>
      </p:pic>
    </p:spTree>
    <p:extLst>
      <p:ext uri="{BB962C8B-B14F-4D97-AF65-F5344CB8AC3E}">
        <p14:creationId xmlns:p14="http://schemas.microsoft.com/office/powerpoint/2010/main" val="3139967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8A101-6415-C586-A481-B8F051B88896}"/>
              </a:ext>
            </a:extLst>
          </p:cNvPr>
          <p:cNvSpPr>
            <a:spLocks noGrp="1"/>
          </p:cNvSpPr>
          <p:nvPr>
            <p:ph type="title"/>
          </p:nvPr>
        </p:nvSpPr>
        <p:spPr>
          <a:xfrm>
            <a:off x="152400" y="365126"/>
            <a:ext cx="11201400" cy="456808"/>
          </a:xfrm>
        </p:spPr>
        <p:txBody>
          <a:bodyPr>
            <a:normAutofit/>
          </a:bodyPr>
          <a:lstStyle/>
          <a:p>
            <a:r>
              <a:rPr lang="en-IN" sz="2600" b="1" dirty="0">
                <a:latin typeface="Times New Roman" panose="02020603050405020304" pitchFamily="18" charset="0"/>
                <a:cs typeface="Times New Roman" panose="02020603050405020304" pitchFamily="18" charset="0"/>
              </a:rPr>
              <a:t>How to cite sources for your case study? Cont’d. (Adding Footnotes)</a:t>
            </a:r>
          </a:p>
        </p:txBody>
      </p:sp>
      <p:pic>
        <p:nvPicPr>
          <p:cNvPr id="5" name="Content Placeholder 4" descr="A screenshot of a computer&#10;&#10;Description automatically generated">
            <a:extLst>
              <a:ext uri="{FF2B5EF4-FFF2-40B4-BE49-F238E27FC236}">
                <a16:creationId xmlns:a16="http://schemas.microsoft.com/office/drawing/2014/main" id="{2913EF7C-333B-CF9B-E9E9-1587D50F689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1" y="1252614"/>
            <a:ext cx="11662880" cy="5605386"/>
          </a:xfrm>
        </p:spPr>
      </p:pic>
    </p:spTree>
    <p:extLst>
      <p:ext uri="{BB962C8B-B14F-4D97-AF65-F5344CB8AC3E}">
        <p14:creationId xmlns:p14="http://schemas.microsoft.com/office/powerpoint/2010/main" val="4115843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8A101-6415-C586-A481-B8F051B88896}"/>
              </a:ext>
            </a:extLst>
          </p:cNvPr>
          <p:cNvSpPr>
            <a:spLocks noGrp="1"/>
          </p:cNvSpPr>
          <p:nvPr>
            <p:ph type="title"/>
          </p:nvPr>
        </p:nvSpPr>
        <p:spPr>
          <a:xfrm>
            <a:off x="152400" y="82193"/>
            <a:ext cx="11201400" cy="801385"/>
          </a:xfrm>
        </p:spPr>
        <p:txBody>
          <a:bodyPr>
            <a:normAutofit fontScale="90000"/>
          </a:bodyPr>
          <a:lstStyle/>
          <a:p>
            <a:r>
              <a:rPr lang="en-IN" sz="2600" b="1" dirty="0">
                <a:latin typeface="Times New Roman" panose="02020603050405020304" pitchFamily="18" charset="0"/>
                <a:cs typeface="Times New Roman" panose="02020603050405020304" pitchFamily="18" charset="0"/>
              </a:rPr>
              <a:t>How to cite sources for your case study? Cont’d. </a:t>
            </a:r>
            <a:br>
              <a:rPr lang="en-IN" sz="2600" b="1" dirty="0">
                <a:latin typeface="Times New Roman" panose="02020603050405020304" pitchFamily="18" charset="0"/>
                <a:cs typeface="Times New Roman" panose="02020603050405020304" pitchFamily="18" charset="0"/>
              </a:rPr>
            </a:br>
            <a:r>
              <a:rPr lang="en-IN" sz="2600" b="1" dirty="0">
                <a:latin typeface="Times New Roman" panose="02020603050405020304" pitchFamily="18" charset="0"/>
                <a:cs typeface="Times New Roman" panose="02020603050405020304" pitchFamily="18" charset="0"/>
              </a:rPr>
              <a:t>(How to cite multiple times)</a:t>
            </a:r>
          </a:p>
        </p:txBody>
      </p:sp>
      <p:pic>
        <p:nvPicPr>
          <p:cNvPr id="7" name="Content Placeholder 6" descr="A screenshot of a computer&#10;&#10;Description automatically generated">
            <a:extLst>
              <a:ext uri="{FF2B5EF4-FFF2-40B4-BE49-F238E27FC236}">
                <a16:creationId xmlns:a16="http://schemas.microsoft.com/office/drawing/2014/main" id="{D62B5C91-58F9-69C0-9A36-4F2EC473143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0" y="1150216"/>
            <a:ext cx="11786171" cy="5571161"/>
          </a:xfrm>
        </p:spPr>
      </p:pic>
    </p:spTree>
    <p:extLst>
      <p:ext uri="{BB962C8B-B14F-4D97-AF65-F5344CB8AC3E}">
        <p14:creationId xmlns:p14="http://schemas.microsoft.com/office/powerpoint/2010/main" val="1361520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B4175-2DDB-332A-753C-AC2A28F1D9AC}"/>
              </a:ext>
            </a:extLst>
          </p:cNvPr>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Case sites/ Business resources </a:t>
            </a:r>
          </a:p>
        </p:txBody>
      </p:sp>
      <p:sp>
        <p:nvSpPr>
          <p:cNvPr id="3" name="Content Placeholder 2">
            <a:extLst>
              <a:ext uri="{FF2B5EF4-FFF2-40B4-BE49-F238E27FC236}">
                <a16:creationId xmlns:a16="http://schemas.microsoft.com/office/drawing/2014/main" id="{C094AD8E-29EB-054E-D817-2BEC5300763E}"/>
              </a:ext>
            </a:extLst>
          </p:cNvPr>
          <p:cNvSpPr>
            <a:spLocks noGrp="1"/>
          </p:cNvSpPr>
          <p:nvPr>
            <p:ph idx="1"/>
          </p:nvPr>
        </p:nvSpPr>
        <p:spPr/>
        <p:txBody>
          <a:bodyPr>
            <a:normAutofit fontScale="92500" lnSpcReduction="10000"/>
          </a:bodyPr>
          <a:lstStyle/>
          <a:p>
            <a:r>
              <a:rPr lang="en-IN" dirty="0"/>
              <a:t>Sector specific information</a:t>
            </a:r>
          </a:p>
          <a:p>
            <a:pPr lvl="1"/>
            <a:r>
              <a:rPr lang="en-IN" dirty="0"/>
              <a:t>India Brand Equity Foundation (</a:t>
            </a:r>
            <a:r>
              <a:rPr lang="en-IN" dirty="0">
                <a:hlinkClick r:id="rId2"/>
              </a:rPr>
              <a:t>https://www.ibef.org/</a:t>
            </a:r>
            <a:r>
              <a:rPr lang="en-IN" dirty="0"/>
              <a:t>)</a:t>
            </a:r>
          </a:p>
          <a:p>
            <a:r>
              <a:rPr lang="en-IN" dirty="0">
                <a:hlinkClick r:id="rId3"/>
              </a:rPr>
              <a:t>www.acre.hku.hk/</a:t>
            </a:r>
            <a:endParaRPr lang="en-IN" dirty="0"/>
          </a:p>
          <a:p>
            <a:r>
              <a:rPr lang="en-IN" dirty="0">
                <a:hlinkClick r:id="rId4"/>
              </a:rPr>
              <a:t>https://caseshub.emeraldgrouppublishing.com/</a:t>
            </a:r>
            <a:endParaRPr lang="en-IN" dirty="0"/>
          </a:p>
          <a:p>
            <a:r>
              <a:rPr lang="en-IN" dirty="0">
                <a:hlinkClick r:id="rId5"/>
              </a:rPr>
              <a:t>www.iveypublishing.ca/</a:t>
            </a:r>
            <a:endParaRPr lang="en-IN" dirty="0"/>
          </a:p>
          <a:p>
            <a:r>
              <a:rPr lang="en-IN" dirty="0">
                <a:hlinkClick r:id="rId6"/>
              </a:rPr>
              <a:t>https://nacra.net/case-research-journal/articles-on-cases</a:t>
            </a:r>
            <a:endParaRPr lang="en-IN" dirty="0"/>
          </a:p>
          <a:p>
            <a:r>
              <a:rPr lang="en-IN" dirty="0">
                <a:hlinkClick r:id="rId7"/>
              </a:rPr>
              <a:t>www.rsm.nl/cdc</a:t>
            </a:r>
            <a:endParaRPr lang="en-IN" dirty="0"/>
          </a:p>
          <a:p>
            <a:r>
              <a:rPr lang="en-IN" dirty="0">
                <a:hlinkClick r:id="rId8"/>
              </a:rPr>
              <a:t>www.thecasecentre.org/</a:t>
            </a:r>
            <a:endParaRPr lang="en-IN" dirty="0"/>
          </a:p>
          <a:p>
            <a:r>
              <a:rPr lang="en-IN" dirty="0">
                <a:hlinkClick r:id="rId9"/>
              </a:rPr>
              <a:t>https://hbsp.Harvard.edu/educator</a:t>
            </a:r>
            <a:endParaRPr lang="en-IN" dirty="0"/>
          </a:p>
          <a:p>
            <a:r>
              <a:rPr lang="en-IN" dirty="0">
                <a:hlinkClick r:id="rId10"/>
              </a:rPr>
              <a:t>https://mitsloan.mit.edu/teaching-resources-library/case-studies</a:t>
            </a:r>
            <a:endParaRPr lang="en-IN" dirty="0"/>
          </a:p>
          <a:p>
            <a:endParaRPr lang="en-IN" dirty="0"/>
          </a:p>
          <a:p>
            <a:pPr marL="0" indent="0">
              <a:buNone/>
            </a:pPr>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3871799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D1975-6106-0BFE-F1BC-A0E98206A5DE}"/>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Academic Journals accepting cases </a:t>
            </a:r>
          </a:p>
        </p:txBody>
      </p:sp>
      <p:sp>
        <p:nvSpPr>
          <p:cNvPr id="3" name="Content Placeholder 2">
            <a:extLst>
              <a:ext uri="{FF2B5EF4-FFF2-40B4-BE49-F238E27FC236}">
                <a16:creationId xmlns:a16="http://schemas.microsoft.com/office/drawing/2014/main" id="{339ADA3B-1467-1611-0D97-47C1836ED5E0}"/>
              </a:ext>
            </a:extLst>
          </p:cNvPr>
          <p:cNvSpPr>
            <a:spLocks noGrp="1"/>
          </p:cNvSpPr>
          <p:nvPr>
            <p:ph idx="1"/>
          </p:nvPr>
        </p:nvSpPr>
        <p:spPr/>
        <p:txBody>
          <a:bodyPr/>
          <a:lstStyle/>
          <a:p>
            <a:r>
              <a:rPr lang="en-IN" dirty="0">
                <a:hlinkClick r:id="rId2"/>
              </a:rPr>
              <a:t>https://onlinelibrary.wiley.com/journal/19113838</a:t>
            </a:r>
            <a:endParaRPr lang="en-IN" dirty="0"/>
          </a:p>
          <a:p>
            <a:r>
              <a:rPr lang="en-IN" dirty="0">
                <a:hlinkClick r:id="rId3"/>
              </a:rPr>
              <a:t>www.worldscientific.com/worldscinet/acrj</a:t>
            </a:r>
            <a:endParaRPr lang="en-IN" dirty="0"/>
          </a:p>
          <a:p>
            <a:r>
              <a:rPr lang="en-IN" dirty="0">
                <a:hlinkClick r:id="rId4"/>
              </a:rPr>
              <a:t>https://journals.sagepub.com/home/ajc</a:t>
            </a:r>
            <a:endParaRPr lang="en-IN" dirty="0"/>
          </a:p>
          <a:p>
            <a:r>
              <a:rPr lang="en-IN" dirty="0">
                <a:hlinkClick r:id="rId5"/>
              </a:rPr>
              <a:t>www.thecasecentre.org/CaseFocus/</a:t>
            </a:r>
            <a:endParaRPr lang="en-IN" dirty="0"/>
          </a:p>
          <a:p>
            <a:r>
              <a:rPr lang="en-IN" dirty="0">
                <a:hlinkClick r:id="rId6"/>
              </a:rPr>
              <a:t>www.emeraldgrouppublishing.com/journal/emcs</a:t>
            </a:r>
            <a:endParaRPr lang="en-IN" dirty="0"/>
          </a:p>
          <a:p>
            <a:endParaRPr lang="en-IN" dirty="0"/>
          </a:p>
          <a:p>
            <a:endParaRPr lang="en-IN" dirty="0"/>
          </a:p>
        </p:txBody>
      </p:sp>
    </p:spTree>
    <p:extLst>
      <p:ext uri="{BB962C8B-B14F-4D97-AF65-F5344CB8AC3E}">
        <p14:creationId xmlns:p14="http://schemas.microsoft.com/office/powerpoint/2010/main" val="3886237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14F8E-0A71-CB0A-A05A-4DE0DFE2A56D}"/>
              </a:ext>
            </a:extLst>
          </p:cNvPr>
          <p:cNvSpPr>
            <a:spLocks noGrp="1"/>
          </p:cNvSpPr>
          <p:nvPr>
            <p:ph type="title"/>
          </p:nvPr>
        </p:nvSpPr>
        <p:spPr/>
        <p:txBody>
          <a:bodyPr/>
          <a:lstStyle/>
          <a:p>
            <a:r>
              <a:rPr lang="en-IN" dirty="0"/>
              <a:t>Journals of Business Cases</a:t>
            </a:r>
          </a:p>
        </p:txBody>
      </p:sp>
      <p:sp>
        <p:nvSpPr>
          <p:cNvPr id="3" name="Content Placeholder 2">
            <a:extLst>
              <a:ext uri="{FF2B5EF4-FFF2-40B4-BE49-F238E27FC236}">
                <a16:creationId xmlns:a16="http://schemas.microsoft.com/office/drawing/2014/main" id="{16801908-D1BB-547B-5239-DA646B639169}"/>
              </a:ext>
            </a:extLst>
          </p:cNvPr>
          <p:cNvSpPr>
            <a:spLocks noGrp="1"/>
          </p:cNvSpPr>
          <p:nvPr>
            <p:ph idx="1"/>
          </p:nvPr>
        </p:nvSpPr>
        <p:spPr/>
        <p:txBody>
          <a:bodyPr/>
          <a:lstStyle/>
          <a:p>
            <a:r>
              <a:rPr lang="en-IN" dirty="0">
                <a:hlinkClick r:id="rId2"/>
              </a:rPr>
              <a:t>https://scispace.com/journals/journal-of-business-case-studies-1thy2p7k</a:t>
            </a:r>
            <a:endParaRPr lang="en-IN" dirty="0"/>
          </a:p>
          <a:p>
            <a:r>
              <a:rPr lang="en-IN" dirty="0">
                <a:hlinkClick r:id="rId3"/>
              </a:rPr>
              <a:t>https://nacra.net/case-research-journal/</a:t>
            </a:r>
            <a:endParaRPr lang="en-IN" dirty="0"/>
          </a:p>
          <a:p>
            <a:r>
              <a:rPr lang="en-IN" dirty="0">
                <a:hlinkClick r:id="rId4">
                  <a:extLst>
                    <a:ext uri="{A12FA001-AC4F-418D-AE19-62706E023703}">
                      <ahyp:hlinkClr xmlns:ahyp="http://schemas.microsoft.com/office/drawing/2018/hyperlinkcolor" val="tx"/>
                    </a:ext>
                  </a:extLst>
                </a:hlinkClick>
              </a:rPr>
              <a:t>Asian Case Research Journal</a:t>
            </a:r>
            <a:endParaRPr lang="en-IN" dirty="0"/>
          </a:p>
          <a:p>
            <a:r>
              <a:rPr lang="en-IN" dirty="0">
                <a:hlinkClick r:id="rId5"/>
              </a:rPr>
              <a:t>https://www.hec.ca/en/case_centre/ijcsm/index.html</a:t>
            </a:r>
            <a:r>
              <a:rPr lang="en-IN" dirty="0"/>
              <a:t> (HEC Montreal)</a:t>
            </a:r>
          </a:p>
          <a:p>
            <a:r>
              <a:rPr lang="en-US" b="0" i="0" u="none" strike="noStrike" dirty="0">
                <a:effectLst/>
                <a:latin typeface="Sage Peak"/>
                <a:hlinkClick r:id="rId6"/>
              </a:rPr>
              <a:t>South Asian Journal of Business and Management Cases</a:t>
            </a:r>
            <a:r>
              <a:rPr lang="en-US" b="0" i="0" u="none" strike="noStrike" dirty="0">
                <a:effectLst/>
                <a:latin typeface="Sage Peak"/>
              </a:rPr>
              <a:t> (BIMTECH)</a:t>
            </a:r>
          </a:p>
          <a:p>
            <a:r>
              <a:rPr lang="en-US" b="0" i="0" dirty="0">
                <a:solidFill>
                  <a:srgbClr val="003399"/>
                </a:solidFill>
                <a:effectLst/>
                <a:latin typeface="-apple-system"/>
              </a:rPr>
              <a:t>International Journal of Teaching and Case Studies</a:t>
            </a:r>
          </a:p>
          <a:p>
            <a:pPr marL="0" indent="0">
              <a:buNone/>
            </a:pPr>
            <a:endParaRPr lang="en-IN" b="0" i="0" u="none" strike="noStrike" dirty="0">
              <a:effectLst/>
              <a:latin typeface="Sage Peak"/>
            </a:endParaRPr>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2145033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D57EC-DB53-D8C7-9181-2FD60CF3366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F9D7054-A664-FC6E-5241-13978057E88F}"/>
              </a:ext>
            </a:extLst>
          </p:cNvPr>
          <p:cNvSpPr>
            <a:spLocks noGrp="1"/>
          </p:cNvSpPr>
          <p:nvPr>
            <p:ph idx="1"/>
          </p:nvPr>
        </p:nvSpPr>
        <p:spPr/>
        <p:txBody>
          <a:bodyPr/>
          <a:lstStyle/>
          <a:p>
            <a:r>
              <a:rPr lang="en-US" b="0" i="0" dirty="0">
                <a:solidFill>
                  <a:srgbClr val="0A0A0A"/>
                </a:solidFill>
                <a:effectLst/>
                <a:latin typeface="Google Sans"/>
              </a:rPr>
              <a:t>IIUM Journal of Case Studies in Management (Affiliated with the International Islamic University Malaysia)</a:t>
            </a:r>
          </a:p>
          <a:p>
            <a:r>
              <a:rPr lang="en-US" b="0" i="0" dirty="0">
                <a:effectLst/>
                <a:latin typeface="fkGroteskNeue"/>
              </a:rPr>
              <a:t>Journal of Business Case Studies (JBCS) </a:t>
            </a:r>
            <a:endParaRPr lang="en-US" dirty="0">
              <a:solidFill>
                <a:srgbClr val="0A0A0A"/>
              </a:solidFill>
              <a:latin typeface="Google Sans"/>
            </a:endParaRPr>
          </a:p>
          <a:p>
            <a:r>
              <a:rPr lang="en-US" b="0" i="0" dirty="0">
                <a:effectLst/>
                <a:latin typeface="fkGroteskNeue"/>
              </a:rPr>
              <a:t>Boston University “Business Case Studies: Journals with Cases</a:t>
            </a:r>
            <a:endParaRPr lang="en-US" b="0" i="0" dirty="0">
              <a:solidFill>
                <a:srgbClr val="0A0A0A"/>
              </a:solidFill>
              <a:effectLst/>
              <a:latin typeface="Google Sans"/>
            </a:endParaRPr>
          </a:p>
          <a:p>
            <a:r>
              <a:rPr lang="en-US" b="0" i="0" dirty="0">
                <a:effectLst/>
                <a:latin typeface="fkGroteskNeue"/>
              </a:rPr>
              <a:t>McMaster University “Case Studies in Journals” guide </a:t>
            </a:r>
            <a:endParaRPr lang="en-US" b="0" i="0" dirty="0">
              <a:solidFill>
                <a:srgbClr val="003399"/>
              </a:solidFill>
              <a:effectLst/>
              <a:latin typeface="-apple-system"/>
            </a:endParaRPr>
          </a:p>
          <a:p>
            <a:r>
              <a:rPr lang="en-US" b="0" i="0" dirty="0">
                <a:effectLst/>
                <a:latin typeface="fkGroteskNeue"/>
              </a:rPr>
              <a:t>International Journal of HRM Cases and Research (IJHMCR)</a:t>
            </a:r>
          </a:p>
          <a:p>
            <a:r>
              <a:rPr lang="en-US" b="0" i="0" dirty="0">
                <a:effectLst/>
                <a:latin typeface="fkGroteskNeue"/>
              </a:rPr>
              <a:t>Human Resource Management International Digest (HRMID, Emerald) </a:t>
            </a:r>
            <a:endParaRPr lang="en-US" dirty="0">
              <a:latin typeface="fkGroteskNeue"/>
            </a:endParaRPr>
          </a:p>
          <a:p>
            <a:r>
              <a:rPr lang="en-US" b="0" i="0" dirty="0">
                <a:effectLst/>
                <a:latin typeface="fkGroteskNeue"/>
              </a:rPr>
              <a:t>Journal of Business Cases and Applications (JBCA, AABRI)</a:t>
            </a:r>
          </a:p>
          <a:p>
            <a:endParaRPr lang="en-IN" dirty="0"/>
          </a:p>
        </p:txBody>
      </p:sp>
    </p:spTree>
    <p:extLst>
      <p:ext uri="{BB962C8B-B14F-4D97-AF65-F5344CB8AC3E}">
        <p14:creationId xmlns:p14="http://schemas.microsoft.com/office/powerpoint/2010/main" val="24974008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1E6ED-ECFD-7CA3-6A8C-CB387D046F89}"/>
              </a:ext>
            </a:extLst>
          </p:cNvPr>
          <p:cNvSpPr>
            <a:spLocks noGrp="1"/>
          </p:cNvSpPr>
          <p:nvPr>
            <p:ph type="title"/>
          </p:nvPr>
        </p:nvSpPr>
        <p:spPr>
          <a:xfrm>
            <a:off x="5604397" y="169911"/>
            <a:ext cx="5444382" cy="701232"/>
          </a:xfrm>
        </p:spPr>
        <p:txBody>
          <a:bodyPr anchor="t">
            <a:normAutofit/>
          </a:bodyPr>
          <a:lstStyle/>
          <a:p>
            <a:r>
              <a:rPr lang="en-IN" sz="3600" b="1" dirty="0">
                <a:latin typeface="Times New Roman" panose="02020603050405020304" pitchFamily="18" charset="0"/>
                <a:cs typeface="Times New Roman" panose="02020603050405020304" pitchFamily="18" charset="0"/>
              </a:rPr>
              <a:t>Others…</a:t>
            </a:r>
          </a:p>
        </p:txBody>
      </p:sp>
      <p:pic>
        <p:nvPicPr>
          <p:cNvPr id="5" name="Picture 4">
            <a:extLst>
              <a:ext uri="{FF2B5EF4-FFF2-40B4-BE49-F238E27FC236}">
                <a16:creationId xmlns:a16="http://schemas.microsoft.com/office/drawing/2014/main" id="{D2D3BD6C-18EA-5CAB-D241-F0080A41D2EA}"/>
              </a:ext>
            </a:extLst>
          </p:cNvPr>
          <p:cNvPicPr>
            <a:picLocks noChangeAspect="1"/>
          </p:cNvPicPr>
          <p:nvPr/>
        </p:nvPicPr>
        <p:blipFill>
          <a:blip r:embed="rId2"/>
          <a:srcRect r="49862" b="-1"/>
          <a:stretch/>
        </p:blipFill>
        <p:spPr>
          <a:xfrm>
            <a:off x="-1" y="10"/>
            <a:ext cx="5151179"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B8C0413-5AA3-1388-4D9C-1F9767598A7F}"/>
              </a:ext>
            </a:extLst>
          </p:cNvPr>
          <p:cNvSpPr>
            <a:spLocks noGrp="1"/>
          </p:cNvSpPr>
          <p:nvPr>
            <p:ph idx="1"/>
          </p:nvPr>
        </p:nvSpPr>
        <p:spPr>
          <a:xfrm>
            <a:off x="5451996" y="1260856"/>
            <a:ext cx="5774803" cy="4327140"/>
          </a:xfrm>
        </p:spPr>
        <p:txBody>
          <a:bodyPr>
            <a:normAutofit/>
          </a:bodyPr>
          <a:lstStyle/>
          <a:p>
            <a:r>
              <a:rPr lang="en-IN" sz="2400" dirty="0"/>
              <a:t>Darden Publishing</a:t>
            </a:r>
          </a:p>
          <a:p>
            <a:r>
              <a:rPr lang="en-IN" sz="2400" dirty="0"/>
              <a:t>Sage Business Cases</a:t>
            </a:r>
          </a:p>
          <a:p>
            <a:r>
              <a:rPr lang="en-IN" sz="2400" dirty="0" err="1"/>
              <a:t>Vikalpa</a:t>
            </a:r>
            <a:endParaRPr lang="en-IN" sz="2400" dirty="0"/>
          </a:p>
          <a:p>
            <a:r>
              <a:rPr lang="en-IN" sz="2400" dirty="0"/>
              <a:t>HEC Montreal Case Centre</a:t>
            </a:r>
          </a:p>
          <a:p>
            <a:r>
              <a:rPr lang="en-IN" sz="2400" dirty="0"/>
              <a:t>IBS Case Development Centre</a:t>
            </a:r>
          </a:p>
          <a:p>
            <a:r>
              <a:rPr lang="en-IN" sz="2400" dirty="0"/>
              <a:t>IE Publishing</a:t>
            </a:r>
          </a:p>
          <a:p>
            <a:r>
              <a:rPr lang="en-IN" sz="2400" dirty="0"/>
              <a:t>INSEAD Publishing</a:t>
            </a:r>
          </a:p>
          <a:p>
            <a:r>
              <a:rPr lang="en-IN" sz="2400" dirty="0"/>
              <a:t>SHRM Cases</a:t>
            </a:r>
          </a:p>
          <a:p>
            <a:r>
              <a:rPr lang="en-IN" sz="2400" dirty="0"/>
              <a:t>Thunderbird Case Studies</a:t>
            </a:r>
          </a:p>
          <a:p>
            <a:pPr marL="0" indent="0">
              <a:buNone/>
            </a:pPr>
            <a:endParaRPr lang="en-IN" sz="2000" dirty="0"/>
          </a:p>
        </p:txBody>
      </p:sp>
    </p:spTree>
    <p:extLst>
      <p:ext uri="{BB962C8B-B14F-4D97-AF65-F5344CB8AC3E}">
        <p14:creationId xmlns:p14="http://schemas.microsoft.com/office/powerpoint/2010/main" val="4179714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3EB99-5EA4-9658-A05C-3BEFCBBD43FB}"/>
              </a:ext>
            </a:extLst>
          </p:cNvPr>
          <p:cNvSpPr>
            <a:spLocks noGrp="1"/>
          </p:cNvSpPr>
          <p:nvPr>
            <p:ph type="title"/>
          </p:nvPr>
        </p:nvSpPr>
        <p:spPr>
          <a:xfrm>
            <a:off x="5746637" y="14382"/>
            <a:ext cx="5444382" cy="856762"/>
          </a:xfrm>
        </p:spPr>
        <p:txBody>
          <a:bodyPr anchor="t">
            <a:normAutofit/>
          </a:bodyPr>
          <a:lstStyle/>
          <a:p>
            <a:r>
              <a:rPr lang="en-IN" sz="3200" b="1" dirty="0"/>
              <a:t>Case Writing Competitions</a:t>
            </a:r>
          </a:p>
        </p:txBody>
      </p:sp>
      <p:pic>
        <p:nvPicPr>
          <p:cNvPr id="5" name="Picture 4" descr="Spiral open diary laid on blue wooden floor">
            <a:extLst>
              <a:ext uri="{FF2B5EF4-FFF2-40B4-BE49-F238E27FC236}">
                <a16:creationId xmlns:a16="http://schemas.microsoft.com/office/drawing/2014/main" id="{29264EBC-B7B3-74B7-F83C-C08E80A6209F}"/>
              </a:ext>
            </a:extLst>
          </p:cNvPr>
          <p:cNvPicPr>
            <a:picLocks noChangeAspect="1"/>
          </p:cNvPicPr>
          <p:nvPr/>
        </p:nvPicPr>
        <p:blipFill>
          <a:blip r:embed="rId2"/>
          <a:srcRect l="10840" r="39022" b="-1"/>
          <a:stretch/>
        </p:blipFill>
        <p:spPr>
          <a:xfrm>
            <a:off x="-1" y="10"/>
            <a:ext cx="5151179"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E138E8F-C072-4011-470B-4BBD2C6792C3}"/>
              </a:ext>
            </a:extLst>
          </p:cNvPr>
          <p:cNvSpPr>
            <a:spLocks noGrp="1"/>
          </p:cNvSpPr>
          <p:nvPr>
            <p:ph idx="1"/>
          </p:nvPr>
        </p:nvSpPr>
        <p:spPr>
          <a:xfrm>
            <a:off x="5868557" y="1178566"/>
            <a:ext cx="5444382" cy="4963818"/>
          </a:xfrm>
        </p:spPr>
        <p:txBody>
          <a:bodyPr>
            <a:normAutofit/>
          </a:bodyPr>
          <a:lstStyle/>
          <a:p>
            <a:r>
              <a:rPr lang="en-IN" sz="1800" dirty="0"/>
              <a:t>AIMA – Indian Case Research Centre Case writing competition</a:t>
            </a:r>
          </a:p>
          <a:p>
            <a:r>
              <a:rPr lang="en-IN" sz="1800" dirty="0"/>
              <a:t>American University Cairo Emerald case competition</a:t>
            </a:r>
          </a:p>
          <a:p>
            <a:r>
              <a:rPr lang="en-IN" sz="1800" dirty="0"/>
              <a:t>Asia Case Writing competition</a:t>
            </a:r>
          </a:p>
          <a:p>
            <a:r>
              <a:rPr lang="en-IN" sz="1800" dirty="0"/>
              <a:t>AABS Emerald Case Competition</a:t>
            </a:r>
          </a:p>
          <a:p>
            <a:r>
              <a:rPr lang="en-IN" sz="1800" dirty="0"/>
              <a:t>CEEMAN Case writing competition</a:t>
            </a:r>
          </a:p>
          <a:p>
            <a:r>
              <a:rPr lang="en-IN" sz="1800" dirty="0"/>
              <a:t>EFMD Case writing competition</a:t>
            </a:r>
          </a:p>
          <a:p>
            <a:r>
              <a:rPr lang="en-IN" sz="1800" dirty="0"/>
              <a:t>John Molson Case writing competition</a:t>
            </a:r>
          </a:p>
          <a:p>
            <a:r>
              <a:rPr lang="en-IN" sz="1800" dirty="0" err="1"/>
              <a:t>LatAm</a:t>
            </a:r>
            <a:r>
              <a:rPr lang="en-IN" sz="1800" dirty="0"/>
              <a:t> Case writing competition</a:t>
            </a:r>
          </a:p>
          <a:p>
            <a:r>
              <a:rPr lang="en-IN" sz="1800" dirty="0"/>
              <a:t>TCJ Compact Case competition</a:t>
            </a:r>
          </a:p>
          <a:p>
            <a:r>
              <a:rPr lang="en-IN" sz="1800" dirty="0"/>
              <a:t>The Case for women</a:t>
            </a:r>
            <a:endParaRPr lang="en-IN" sz="1400" dirty="0"/>
          </a:p>
        </p:txBody>
      </p:sp>
    </p:spTree>
    <p:extLst>
      <p:ext uri="{BB962C8B-B14F-4D97-AF65-F5344CB8AC3E}">
        <p14:creationId xmlns:p14="http://schemas.microsoft.com/office/powerpoint/2010/main" val="12222014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096B3-9120-34AF-086F-84A8B582B09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20516B4-03D0-DF5E-FFBB-B99FAA53FEDE}"/>
              </a:ext>
            </a:extLst>
          </p:cNvPr>
          <p:cNvSpPr>
            <a:spLocks noGrp="1"/>
          </p:cNvSpPr>
          <p:nvPr>
            <p:ph idx="1"/>
          </p:nvPr>
        </p:nvSpPr>
        <p:spPr/>
        <p:txBody>
          <a:bodyPr>
            <a:normAutofit/>
          </a:bodyPr>
          <a:lstStyle/>
          <a:p>
            <a:pPr marL="0" indent="0" algn="ctr">
              <a:buNone/>
            </a:pPr>
            <a:endParaRPr lang="en-IN" dirty="0"/>
          </a:p>
          <a:p>
            <a:pPr marL="0" indent="0" algn="ctr">
              <a:buNone/>
            </a:pPr>
            <a:r>
              <a:rPr lang="en-IN" dirty="0"/>
              <a:t>Thank you !</a:t>
            </a:r>
          </a:p>
          <a:p>
            <a:pPr marL="0" indent="0" algn="ctr">
              <a:buNone/>
            </a:pPr>
            <a:endParaRPr lang="en-IN" dirty="0">
              <a:sym typeface="Wingdings" panose="05000000000000000000" pitchFamily="2" charset="2"/>
            </a:endParaRPr>
          </a:p>
          <a:p>
            <a:pPr marL="0" indent="0" algn="ctr">
              <a:buNone/>
            </a:pPr>
            <a:r>
              <a:rPr lang="en-IN" dirty="0">
                <a:sym typeface="Wingdings" panose="05000000000000000000" pitchFamily="2" charset="2"/>
              </a:rPr>
              <a:t>All the best for your first Case study </a:t>
            </a:r>
          </a:p>
          <a:p>
            <a:pPr marL="0" indent="0" algn="ctr">
              <a:buNone/>
            </a:pPr>
            <a:endParaRPr lang="en-IN" dirty="0">
              <a:sym typeface="Wingdings" panose="05000000000000000000" pitchFamily="2" charset="2"/>
            </a:endParaRPr>
          </a:p>
          <a:p>
            <a:pPr marL="0" indent="0" algn="ctr">
              <a:buNone/>
            </a:pPr>
            <a:r>
              <a:rPr lang="en-IN" dirty="0">
                <a:sym typeface="Wingdings" panose="05000000000000000000" pitchFamily="2" charset="2"/>
                <a:hlinkClick r:id="rId2"/>
              </a:rPr>
              <a:t>kakolis@iimsambalpur.ac.in</a:t>
            </a:r>
            <a:endParaRPr lang="en-IN" dirty="0">
              <a:sym typeface="Wingdings" panose="05000000000000000000" pitchFamily="2" charset="2"/>
            </a:endParaRPr>
          </a:p>
          <a:p>
            <a:pPr marL="0" indent="0" algn="ctr">
              <a:buNone/>
            </a:pPr>
            <a:r>
              <a:rPr lang="en-IN" dirty="0">
                <a:sym typeface="Wingdings" panose="05000000000000000000" pitchFamily="2" charset="2"/>
              </a:rPr>
              <a:t>+91 99717 97032</a:t>
            </a:r>
            <a:endParaRPr lang="en-IN" dirty="0"/>
          </a:p>
        </p:txBody>
      </p:sp>
    </p:spTree>
    <p:extLst>
      <p:ext uri="{BB962C8B-B14F-4D97-AF65-F5344CB8AC3E}">
        <p14:creationId xmlns:p14="http://schemas.microsoft.com/office/powerpoint/2010/main" val="31447904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17542</TotalTime>
  <Words>1199</Words>
  <Application>Microsoft Office PowerPoint</Application>
  <PresentationFormat>Widescreen</PresentationFormat>
  <Paragraphs>142</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-apple-system</vt:lpstr>
      <vt:lpstr>Arial</vt:lpstr>
      <vt:lpstr>Calibri</vt:lpstr>
      <vt:lpstr>Calibri Light</vt:lpstr>
      <vt:lpstr>fkGroteskNeue</vt:lpstr>
      <vt:lpstr>Google Sans</vt:lpstr>
      <vt:lpstr>Sage Peak</vt:lpstr>
      <vt:lpstr>Times New Roman</vt:lpstr>
      <vt:lpstr>Office Theme</vt:lpstr>
      <vt:lpstr>Research Methods &amp; Data collection in Case Writing</vt:lpstr>
      <vt:lpstr>Key Differences Between Case Studies and Research Papers</vt:lpstr>
      <vt:lpstr>Primary Data and its Sources </vt:lpstr>
      <vt:lpstr>Secondary Data &amp; its Sources</vt:lpstr>
      <vt:lpstr>Quantitative vs. Qualitative Data Analysis: </vt:lpstr>
      <vt:lpstr>Mixed Methods Approach (Combining Quantitative and Qualitative Methods) </vt:lpstr>
      <vt:lpstr>How to cite sources for your case study?</vt:lpstr>
      <vt:lpstr>How to cite sources for your case study? Cont’d. (Adding Footnotes)</vt:lpstr>
      <vt:lpstr>How to cite sources for your case study? Cont’d.  (How to cite multiple times)</vt:lpstr>
      <vt:lpstr>Case sites/ Business resources </vt:lpstr>
      <vt:lpstr>Academic Journals accepting cases </vt:lpstr>
      <vt:lpstr>Journals of Business Cases</vt:lpstr>
      <vt:lpstr>PowerPoint Presentation</vt:lpstr>
      <vt:lpstr>Others…</vt:lpstr>
      <vt:lpstr>Case Writing Competitions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collection in Case Writing</dc:title>
  <dc:creator>Kakoli  Sen</dc:creator>
  <cp:lastModifiedBy>Kakoli  Sen</cp:lastModifiedBy>
  <cp:revision>34</cp:revision>
  <dcterms:created xsi:type="dcterms:W3CDTF">2025-03-10T10:36:59Z</dcterms:created>
  <dcterms:modified xsi:type="dcterms:W3CDTF">2025-12-19T16:52:47Z</dcterms:modified>
</cp:coreProperties>
</file>