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9" r:id="rId6"/>
    <p:sldId id="270" r:id="rId7"/>
    <p:sldId id="276" r:id="rId8"/>
    <p:sldId id="27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505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3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3B9FD8-FAEE-4219-BDB9-AA832D5BF49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B6A52D8-46E1-4434-A7BF-2D9048DE6ACD}">
      <dgm:prSet/>
      <dgm:spPr/>
      <dgm:t>
        <a:bodyPr/>
        <a:lstStyle/>
        <a:p>
          <a:r>
            <a:rPr lang="en-IN"/>
            <a:t>Be on the lookout for case ideas!</a:t>
          </a:r>
          <a:endParaRPr lang="en-US"/>
        </a:p>
      </dgm:t>
    </dgm:pt>
    <dgm:pt modelId="{4667B243-C830-4907-989A-30F957392B92}" type="parTrans" cxnId="{DAC19C3B-C06A-4DE1-B84B-D9AFCE78EA93}">
      <dgm:prSet/>
      <dgm:spPr/>
      <dgm:t>
        <a:bodyPr/>
        <a:lstStyle/>
        <a:p>
          <a:endParaRPr lang="en-US"/>
        </a:p>
      </dgm:t>
    </dgm:pt>
    <dgm:pt modelId="{87583373-52EA-40A0-B3B1-F238B7791D5E}" type="sibTrans" cxnId="{DAC19C3B-C06A-4DE1-B84B-D9AFCE78EA93}">
      <dgm:prSet/>
      <dgm:spPr/>
      <dgm:t>
        <a:bodyPr/>
        <a:lstStyle/>
        <a:p>
          <a:endParaRPr lang="en-US"/>
        </a:p>
      </dgm:t>
    </dgm:pt>
    <dgm:pt modelId="{A4CB171F-2335-4AEE-AF9A-FF1BBBE075B4}">
      <dgm:prSet/>
      <dgm:spPr/>
      <dgm:t>
        <a:bodyPr/>
        <a:lstStyle/>
        <a:p>
          <a:r>
            <a:rPr lang="en-IN"/>
            <a:t>Thank you!</a:t>
          </a:r>
          <a:endParaRPr lang="en-US"/>
        </a:p>
      </dgm:t>
    </dgm:pt>
    <dgm:pt modelId="{0E6C631B-3D7E-49B7-AF66-C8ADDE4EC4D1}" type="parTrans" cxnId="{3F10066C-DD2B-4AD9-80DC-D379A6D2C9F3}">
      <dgm:prSet/>
      <dgm:spPr/>
      <dgm:t>
        <a:bodyPr/>
        <a:lstStyle/>
        <a:p>
          <a:endParaRPr lang="en-US"/>
        </a:p>
      </dgm:t>
    </dgm:pt>
    <dgm:pt modelId="{BEB1D879-4BBE-4EE4-A626-3BE286D4D957}" type="sibTrans" cxnId="{3F10066C-DD2B-4AD9-80DC-D379A6D2C9F3}">
      <dgm:prSet/>
      <dgm:spPr/>
      <dgm:t>
        <a:bodyPr/>
        <a:lstStyle/>
        <a:p>
          <a:endParaRPr lang="en-US"/>
        </a:p>
      </dgm:t>
    </dgm:pt>
    <dgm:pt modelId="{2A1FBBC4-E67E-4642-AFE7-15ADD466E36D}" type="pres">
      <dgm:prSet presAssocID="{843B9FD8-FAEE-4219-BDB9-AA832D5BF49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40CAFA-E992-413A-8EC9-3790480365D1}" type="pres">
      <dgm:prSet presAssocID="{AB6A52D8-46E1-4434-A7BF-2D9048DE6ACD}" presName="hierRoot1" presStyleCnt="0"/>
      <dgm:spPr/>
    </dgm:pt>
    <dgm:pt modelId="{A9795D57-7286-4BEF-A55C-C110A385718C}" type="pres">
      <dgm:prSet presAssocID="{AB6A52D8-46E1-4434-A7BF-2D9048DE6ACD}" presName="composite" presStyleCnt="0"/>
      <dgm:spPr/>
    </dgm:pt>
    <dgm:pt modelId="{7917D5E6-DC85-4C90-BB02-79DCEE64BB48}" type="pres">
      <dgm:prSet presAssocID="{AB6A52D8-46E1-4434-A7BF-2D9048DE6ACD}" presName="background" presStyleLbl="node0" presStyleIdx="0" presStyleCnt="2"/>
      <dgm:spPr/>
    </dgm:pt>
    <dgm:pt modelId="{2042F7C6-D10D-45B3-B3B4-0C8A89DBEB07}" type="pres">
      <dgm:prSet presAssocID="{AB6A52D8-46E1-4434-A7BF-2D9048DE6ACD}" presName="text" presStyleLbl="fgAcc0" presStyleIdx="0" presStyleCnt="2">
        <dgm:presLayoutVars>
          <dgm:chPref val="3"/>
        </dgm:presLayoutVars>
      </dgm:prSet>
      <dgm:spPr/>
    </dgm:pt>
    <dgm:pt modelId="{EA27576E-0A1D-4B29-AC9C-BD3A4DF6E159}" type="pres">
      <dgm:prSet presAssocID="{AB6A52D8-46E1-4434-A7BF-2D9048DE6ACD}" presName="hierChild2" presStyleCnt="0"/>
      <dgm:spPr/>
    </dgm:pt>
    <dgm:pt modelId="{8153E2D9-0E9C-45DC-BC9C-114D6982EA39}" type="pres">
      <dgm:prSet presAssocID="{A4CB171F-2335-4AEE-AF9A-FF1BBBE075B4}" presName="hierRoot1" presStyleCnt="0"/>
      <dgm:spPr/>
    </dgm:pt>
    <dgm:pt modelId="{8AA3B68F-BF87-4EEF-BB87-31D3D89CE87C}" type="pres">
      <dgm:prSet presAssocID="{A4CB171F-2335-4AEE-AF9A-FF1BBBE075B4}" presName="composite" presStyleCnt="0"/>
      <dgm:spPr/>
    </dgm:pt>
    <dgm:pt modelId="{F9093108-5009-48DA-B6C9-95CD2338584F}" type="pres">
      <dgm:prSet presAssocID="{A4CB171F-2335-4AEE-AF9A-FF1BBBE075B4}" presName="background" presStyleLbl="node0" presStyleIdx="1" presStyleCnt="2"/>
      <dgm:spPr/>
    </dgm:pt>
    <dgm:pt modelId="{F16F1ED4-9D8D-4E62-831D-BF8D095A0615}" type="pres">
      <dgm:prSet presAssocID="{A4CB171F-2335-4AEE-AF9A-FF1BBBE075B4}" presName="text" presStyleLbl="fgAcc0" presStyleIdx="1" presStyleCnt="2">
        <dgm:presLayoutVars>
          <dgm:chPref val="3"/>
        </dgm:presLayoutVars>
      </dgm:prSet>
      <dgm:spPr/>
    </dgm:pt>
    <dgm:pt modelId="{9E3297C7-B11D-4462-BAE9-7B18E1476F05}" type="pres">
      <dgm:prSet presAssocID="{A4CB171F-2335-4AEE-AF9A-FF1BBBE075B4}" presName="hierChild2" presStyleCnt="0"/>
      <dgm:spPr/>
    </dgm:pt>
  </dgm:ptLst>
  <dgm:cxnLst>
    <dgm:cxn modelId="{C9DE182C-0787-4323-A733-9B8A446C5905}" type="presOf" srcId="{AB6A52D8-46E1-4434-A7BF-2D9048DE6ACD}" destId="{2042F7C6-D10D-45B3-B3B4-0C8A89DBEB07}" srcOrd="0" destOrd="0" presId="urn:microsoft.com/office/officeart/2005/8/layout/hierarchy1"/>
    <dgm:cxn modelId="{DAC19C3B-C06A-4DE1-B84B-D9AFCE78EA93}" srcId="{843B9FD8-FAEE-4219-BDB9-AA832D5BF49C}" destId="{AB6A52D8-46E1-4434-A7BF-2D9048DE6ACD}" srcOrd="0" destOrd="0" parTransId="{4667B243-C830-4907-989A-30F957392B92}" sibTransId="{87583373-52EA-40A0-B3B1-F238B7791D5E}"/>
    <dgm:cxn modelId="{3F10066C-DD2B-4AD9-80DC-D379A6D2C9F3}" srcId="{843B9FD8-FAEE-4219-BDB9-AA832D5BF49C}" destId="{A4CB171F-2335-4AEE-AF9A-FF1BBBE075B4}" srcOrd="1" destOrd="0" parTransId="{0E6C631B-3D7E-49B7-AF66-C8ADDE4EC4D1}" sibTransId="{BEB1D879-4BBE-4EE4-A626-3BE286D4D957}"/>
    <dgm:cxn modelId="{0CAA3A84-294B-4071-94FF-044858700B9F}" type="presOf" srcId="{A4CB171F-2335-4AEE-AF9A-FF1BBBE075B4}" destId="{F16F1ED4-9D8D-4E62-831D-BF8D095A0615}" srcOrd="0" destOrd="0" presId="urn:microsoft.com/office/officeart/2005/8/layout/hierarchy1"/>
    <dgm:cxn modelId="{A6D90CF6-FC5F-41BE-8220-8777EF6E9C03}" type="presOf" srcId="{843B9FD8-FAEE-4219-BDB9-AA832D5BF49C}" destId="{2A1FBBC4-E67E-4642-AFE7-15ADD466E36D}" srcOrd="0" destOrd="0" presId="urn:microsoft.com/office/officeart/2005/8/layout/hierarchy1"/>
    <dgm:cxn modelId="{36AF6AA8-DB04-4AE8-BFF9-609432DAB8F9}" type="presParOf" srcId="{2A1FBBC4-E67E-4642-AFE7-15ADD466E36D}" destId="{9540CAFA-E992-413A-8EC9-3790480365D1}" srcOrd="0" destOrd="0" presId="urn:microsoft.com/office/officeart/2005/8/layout/hierarchy1"/>
    <dgm:cxn modelId="{8ED41C86-2D3A-4093-93AE-06FEAC36D4D1}" type="presParOf" srcId="{9540CAFA-E992-413A-8EC9-3790480365D1}" destId="{A9795D57-7286-4BEF-A55C-C110A385718C}" srcOrd="0" destOrd="0" presId="urn:microsoft.com/office/officeart/2005/8/layout/hierarchy1"/>
    <dgm:cxn modelId="{48CC72CD-3756-4546-ACDF-79296432D73C}" type="presParOf" srcId="{A9795D57-7286-4BEF-A55C-C110A385718C}" destId="{7917D5E6-DC85-4C90-BB02-79DCEE64BB48}" srcOrd="0" destOrd="0" presId="urn:microsoft.com/office/officeart/2005/8/layout/hierarchy1"/>
    <dgm:cxn modelId="{FE41C77C-2A05-4EEC-BDDF-5CAB130718CF}" type="presParOf" srcId="{A9795D57-7286-4BEF-A55C-C110A385718C}" destId="{2042F7C6-D10D-45B3-B3B4-0C8A89DBEB07}" srcOrd="1" destOrd="0" presId="urn:microsoft.com/office/officeart/2005/8/layout/hierarchy1"/>
    <dgm:cxn modelId="{32381C29-5B65-4A45-9D6E-C1F004CC61E5}" type="presParOf" srcId="{9540CAFA-E992-413A-8EC9-3790480365D1}" destId="{EA27576E-0A1D-4B29-AC9C-BD3A4DF6E159}" srcOrd="1" destOrd="0" presId="urn:microsoft.com/office/officeart/2005/8/layout/hierarchy1"/>
    <dgm:cxn modelId="{ACCCDD5A-DACA-431A-8B9B-80182CFE0FD4}" type="presParOf" srcId="{2A1FBBC4-E67E-4642-AFE7-15ADD466E36D}" destId="{8153E2D9-0E9C-45DC-BC9C-114D6982EA39}" srcOrd="1" destOrd="0" presId="urn:microsoft.com/office/officeart/2005/8/layout/hierarchy1"/>
    <dgm:cxn modelId="{01CF2927-7343-45E8-9D6A-775425A8FFA1}" type="presParOf" srcId="{8153E2D9-0E9C-45DC-BC9C-114D6982EA39}" destId="{8AA3B68F-BF87-4EEF-BB87-31D3D89CE87C}" srcOrd="0" destOrd="0" presId="urn:microsoft.com/office/officeart/2005/8/layout/hierarchy1"/>
    <dgm:cxn modelId="{6C4CE8EA-7535-4237-92EB-1FA4C8BAFCCA}" type="presParOf" srcId="{8AA3B68F-BF87-4EEF-BB87-31D3D89CE87C}" destId="{F9093108-5009-48DA-B6C9-95CD2338584F}" srcOrd="0" destOrd="0" presId="urn:microsoft.com/office/officeart/2005/8/layout/hierarchy1"/>
    <dgm:cxn modelId="{FAEC5734-373B-4C05-B85C-F0606A81E736}" type="presParOf" srcId="{8AA3B68F-BF87-4EEF-BB87-31D3D89CE87C}" destId="{F16F1ED4-9D8D-4E62-831D-BF8D095A0615}" srcOrd="1" destOrd="0" presId="urn:microsoft.com/office/officeart/2005/8/layout/hierarchy1"/>
    <dgm:cxn modelId="{0222F96E-E0B5-4DB2-89EC-DE28F7D95AA1}" type="presParOf" srcId="{8153E2D9-0E9C-45DC-BC9C-114D6982EA39}" destId="{9E3297C7-B11D-4462-BAE9-7B18E1476F0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17D5E6-DC85-4C90-BB02-79DCEE64BB48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42F7C6-D10D-45B3-B3B4-0C8A89DBEB07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200" kern="1200"/>
            <a:t>Be on the lookout for case ideas!</a:t>
          </a:r>
          <a:endParaRPr lang="en-US" sz="4200" kern="1200"/>
        </a:p>
      </dsp:txBody>
      <dsp:txXfrm>
        <a:off x="456496" y="980400"/>
        <a:ext cx="3381034" cy="2099279"/>
      </dsp:txXfrm>
    </dsp:sp>
    <dsp:sp modelId="{F9093108-5009-48DA-B6C9-95CD2338584F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6F1ED4-9D8D-4E62-831D-BF8D095A0615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200" kern="1200"/>
            <a:t>Thank you!</a:t>
          </a:r>
          <a:endParaRPr lang="en-US" sz="4200" kern="1200"/>
        </a:p>
      </dsp:txBody>
      <dsp:txXfrm>
        <a:off x="4748523" y="980400"/>
        <a:ext cx="3381034" cy="20992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kakolis@iimsambalpur.ac.i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hbsp.harvard.edu/home/" TargetMode="External"/><Relationship Id="rId7" Type="http://schemas.openxmlformats.org/officeDocument/2006/relationships/hyperlink" Target="https://sk.sagepub.com/cases/author-info" TargetMode="External"/><Relationship Id="rId2" Type="http://schemas.openxmlformats.org/officeDocument/2006/relationships/hyperlink" Target="https://www.iveypublishing.ca/s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thecasecentre.org/" TargetMode="External"/><Relationship Id="rId5" Type="http://schemas.openxmlformats.org/officeDocument/2006/relationships/hyperlink" Target="https://www.emeraldgrouppublishing.com/" TargetMode="External"/><Relationship Id="rId4" Type="http://schemas.openxmlformats.org/officeDocument/2006/relationships/hyperlink" Target="https://mitsloan.mit.edu/teaching-resources-library/mit-sloan-case-studies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0148" y="818984"/>
            <a:ext cx="7265652" cy="3268520"/>
          </a:xfrm>
        </p:spPr>
        <p:txBody>
          <a:bodyPr>
            <a:normAutofit/>
          </a:bodyPr>
          <a:lstStyle/>
          <a:p>
            <a:r>
              <a:rPr lang="en-US" sz="4200" dirty="0">
                <a:solidFill>
                  <a:srgbClr val="FFFFFF"/>
                </a:solidFill>
              </a:rPr>
              <a:t>Case Writing: </a:t>
            </a:r>
            <a:br>
              <a:rPr lang="en-US" sz="4200" dirty="0">
                <a:solidFill>
                  <a:srgbClr val="FFFFFF"/>
                </a:solidFill>
              </a:rPr>
            </a:br>
            <a:r>
              <a:rPr lang="en-US" sz="4200" dirty="0">
                <a:solidFill>
                  <a:srgbClr val="FFFFFF"/>
                </a:solidFill>
              </a:rPr>
              <a:t>Conceptualization to Publication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33991" y="4797188"/>
            <a:ext cx="4538427" cy="1241828"/>
          </a:xfrm>
        </p:spPr>
        <p:txBody>
          <a:bodyPr>
            <a:normAutofit/>
          </a:bodyPr>
          <a:lstStyle/>
          <a:p>
            <a:r>
              <a:rPr lang="pl-PL" sz="3000" dirty="0">
                <a:solidFill>
                  <a:srgbClr val="FFFFFF"/>
                </a:solidFill>
              </a:rPr>
              <a:t>Prof.(Dr.) Kakoli Sen</a:t>
            </a:r>
          </a:p>
          <a:p>
            <a:r>
              <a:rPr lang="pl-PL" sz="3000" dirty="0">
                <a:solidFill>
                  <a:srgbClr val="FFFFFF"/>
                </a:solidFill>
                <a:hlinkClick r:id="rId2"/>
              </a:rPr>
              <a:t>kakolis@iimsambalpur.ac.in</a:t>
            </a:r>
            <a:endParaRPr lang="pl-PL" sz="3000" dirty="0">
              <a:solidFill>
                <a:srgbClr val="FFFFFF"/>
              </a:solidFill>
            </a:endParaRPr>
          </a:p>
          <a:p>
            <a:endParaRPr lang="pl-PL" sz="3000" dirty="0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9797" y="586855"/>
            <a:ext cx="3172575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Session Objectives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7ECD3A-2C76-8909-F3B2-0A215FEED20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505424" y="649480"/>
            <a:ext cx="4317732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Understand the essence of management case writing.</a:t>
            </a:r>
          </a:p>
          <a:p>
            <a:pPr marL="0" marR="0" lvl="0" indent="-22860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indent="-22860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Know the basic structure of a case</a:t>
            </a:r>
          </a:p>
          <a:p>
            <a:pPr lvl="0" indent="-22860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tx1"/>
              </a:solidFill>
            </a:endParaRPr>
          </a:p>
          <a:p>
            <a:pPr lvl="0" indent="-22860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Have one case idea drafted.</a:t>
            </a:r>
          </a:p>
          <a:p>
            <a:pPr lvl="0" indent="-22860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-22860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 motivated to start writing the first draft in your subsequent sessions.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0041" y="586855"/>
            <a:ext cx="2401025" cy="44858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Why Case Writing Matters for a DBA Scholar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C6C860-274B-9080-CB7E-7D265E5D84E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607694" y="649480"/>
            <a:ext cx="4916510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700" dirty="0">
              <a:solidFill>
                <a:schemeClr val="tx1"/>
              </a:solidFill>
            </a:endParaRPr>
          </a:p>
          <a:p>
            <a:pPr marL="0" marR="0" lvl="0" indent="-22860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Cases bridge theory and practice.</a:t>
            </a:r>
          </a:p>
          <a:p>
            <a:pPr marL="0" marR="0" lvl="0" indent="-22860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-22860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Enhances applied research and teaching credibility.</a:t>
            </a:r>
          </a:p>
          <a:p>
            <a:pPr marL="0" marR="0" lvl="0" indent="-22860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-22860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Pathway to publication (Ivey, Case Centre, Emerald).</a:t>
            </a:r>
          </a:p>
          <a:p>
            <a:pPr marL="0" marR="0" lvl="0" indent="-22860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-22860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Why do YOU want to write a case?</a:t>
            </a:r>
          </a:p>
          <a:p>
            <a:pPr marL="0" marR="0" lvl="0" indent="-22860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400" i="1" dirty="0">
              <a:solidFill>
                <a:schemeClr val="tx1"/>
              </a:solidFill>
            </a:endParaRPr>
          </a:p>
          <a:p>
            <a:pPr marL="0" marR="0" lvl="0" indent="-22860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7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-228600" algn="l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9797" y="586855"/>
            <a:ext cx="3172575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Makes a Great Case?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77368" y="649480"/>
            <a:ext cx="3646835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b="1" dirty="0">
                <a:solidFill>
                  <a:schemeClr val="tx1"/>
                </a:solidFill>
              </a:rPr>
              <a:t>Key traits: 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 Real problem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 Relevant &amp; Recent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 Decision-focused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 Discussion </a:t>
            </a:r>
          </a:p>
          <a:p>
            <a:pPr algn="l" defTabSz="914400">
              <a:lnSpc>
                <a:spcPct val="90000"/>
              </a:lnSpc>
            </a:pPr>
            <a:r>
              <a:rPr lang="en-US" sz="2800" dirty="0">
                <a:solidFill>
                  <a:schemeClr val="tx1"/>
                </a:solidFill>
              </a:rPr>
              <a:t>    possibilities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 Interesting to read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 Teachable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9797" y="586855"/>
            <a:ext cx="3172575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Structure of a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77368" y="649480"/>
            <a:ext cx="3646835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28575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Title &amp; Opening paragraph (hook)</a:t>
            </a:r>
          </a:p>
          <a:p>
            <a:pPr marL="514350" indent="-28575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Background &amp; Context</a:t>
            </a:r>
          </a:p>
          <a:p>
            <a:pPr marL="514350" indent="-28575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Protagonist</a:t>
            </a:r>
          </a:p>
          <a:p>
            <a:pPr marL="514350" indent="-28575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Dilemma / Decision Point</a:t>
            </a:r>
          </a:p>
          <a:p>
            <a:pPr marL="514350" indent="-28575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Data and Exhibits</a:t>
            </a:r>
          </a:p>
          <a:p>
            <a:pPr marL="514350" indent="-28575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Ending Question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algn="l" defTabSz="914400">
              <a:lnSpc>
                <a:spcPct val="90000"/>
              </a:lnSpc>
            </a:pPr>
            <a:r>
              <a:rPr lang="en-US" sz="2400" b="1" i="1" u="sng" dirty="0">
                <a:solidFill>
                  <a:schemeClr val="tx1"/>
                </a:solidFill>
              </a:rPr>
              <a:t>Situation → Complication / Urgency → Dilemma → Options → Decision</a:t>
            </a:r>
            <a:endParaRPr lang="en-US" sz="2400" b="1" u="sng" dirty="0">
              <a:solidFill>
                <a:schemeClr val="tx1"/>
              </a:solidFill>
            </a:endParaRPr>
          </a:p>
          <a:p>
            <a:pPr marL="742950" lvl="1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5125" y="1153572"/>
            <a:ext cx="24003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Major Case repositories 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35481" y="591344"/>
            <a:ext cx="5179868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Ivey Publishing </a:t>
            </a:r>
          </a:p>
          <a:p>
            <a:pPr algn="l" defTabSz="914400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hlinkClick r:id="rId2"/>
              </a:rPr>
              <a:t>https://www.iveypublishing.ca/s/</a:t>
            </a:r>
            <a:endParaRPr lang="en-US" sz="20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Harvard Business Publishing </a:t>
            </a:r>
          </a:p>
          <a:p>
            <a:pPr algn="l" defTabSz="914400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hlinkClick r:id="rId3"/>
              </a:rPr>
              <a:t>https://hbsp.harvard.edu/home/</a:t>
            </a:r>
            <a:endParaRPr lang="en-US" sz="20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MIT Sloan</a:t>
            </a:r>
          </a:p>
          <a:p>
            <a:pPr algn="l" defTabSz="914400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hlinkClick r:id="rId4"/>
              </a:rPr>
              <a:t>https://mitsloan.mit.edu/teaching-resources-library/mit-sloan-case-studies</a:t>
            </a:r>
            <a:endParaRPr lang="en-US" sz="20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Emerald Emerging Markets Cases / The Case Journal</a:t>
            </a:r>
          </a:p>
          <a:p>
            <a:pPr algn="l" defTabSz="914400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hlinkClick r:id="rId5"/>
              </a:rPr>
              <a:t>https://www.emeraldgrouppublishing.com/</a:t>
            </a:r>
            <a:endParaRPr lang="en-US" sz="20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Case Centre</a:t>
            </a:r>
          </a:p>
          <a:p>
            <a:pPr algn="l" defTabSz="914400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hlinkClick r:id="rId6"/>
              </a:rPr>
              <a:t>https://www.thecasecentre.org/</a:t>
            </a:r>
            <a:endParaRPr lang="en-US" sz="2000" dirty="0">
              <a:solidFill>
                <a:schemeClr val="tx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Sage Publishing</a:t>
            </a:r>
          </a:p>
          <a:p>
            <a:pPr algn="l" defTabSz="914400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hlinkClick r:id="rId7"/>
              </a:rPr>
              <a:t>https://sk.sagepub.com/cases/author-info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380AFF-C582-167A-10D7-C05D4092C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4616516"/>
          </a:xfrm>
        </p:spPr>
        <p:txBody>
          <a:bodyPr anchor="b"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Let’s put our thinking caps on!</a:t>
            </a:r>
            <a:br>
              <a:rPr lang="en-IN" dirty="0">
                <a:solidFill>
                  <a:srgbClr val="FFFFFF"/>
                </a:solidFill>
              </a:rPr>
            </a:b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B0199-B4AD-44AA-E58F-C83DF2FDB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2000" dirty="0"/>
              <a:t>Think of one professional dilemma / situation that made you proud, regretful, or puzzled.</a:t>
            </a:r>
          </a:p>
          <a:p>
            <a:pPr lvl="1" algn="just"/>
            <a:r>
              <a:rPr lang="en-IN" sz="2000" dirty="0"/>
              <a:t>Write 3–4 lines about it.</a:t>
            </a:r>
          </a:p>
          <a:p>
            <a:pPr lvl="1" algn="just"/>
            <a:r>
              <a:rPr lang="en-IN" sz="2000" dirty="0"/>
              <a:t>What happened? Why? When?</a:t>
            </a:r>
          </a:p>
          <a:p>
            <a:pPr lvl="1" algn="just"/>
            <a:r>
              <a:rPr lang="en-IN" sz="2000" dirty="0"/>
              <a:t>Why was it so important?</a:t>
            </a:r>
          </a:p>
          <a:p>
            <a:pPr lvl="1" algn="just"/>
            <a:r>
              <a:rPr lang="en-IN" sz="2000" dirty="0"/>
              <a:t>What made it complex?</a:t>
            </a:r>
          </a:p>
          <a:p>
            <a:pPr lvl="1" algn="just"/>
            <a:r>
              <a:rPr lang="en-IN" sz="2000" dirty="0"/>
              <a:t>What did you do about it?</a:t>
            </a:r>
          </a:p>
          <a:p>
            <a:pPr algn="just"/>
            <a:endParaRPr lang="en-IN" sz="2000" dirty="0"/>
          </a:p>
          <a:p>
            <a:pPr marL="0" indent="0" algn="ctr">
              <a:buNone/>
            </a:pPr>
            <a:r>
              <a:rPr lang="en-IN" sz="2400" b="1" i="1" dirty="0"/>
              <a:t>Is this unique? </a:t>
            </a:r>
          </a:p>
          <a:p>
            <a:pPr marL="0" indent="0" algn="ctr">
              <a:buNone/>
            </a:pPr>
            <a:r>
              <a:rPr lang="en-IN" sz="2400" b="1" i="1" dirty="0"/>
              <a:t>What could others learn from this? </a:t>
            </a:r>
          </a:p>
        </p:txBody>
      </p:sp>
    </p:spTree>
    <p:extLst>
      <p:ext uri="{BB962C8B-B14F-4D97-AF65-F5344CB8AC3E}">
        <p14:creationId xmlns:p14="http://schemas.microsoft.com/office/powerpoint/2010/main" val="4015040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DD72E8-B1A8-713D-ACFA-9FEF8A234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And finally !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5AB7F0-B63F-E85A-6E70-FA4E68C546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843271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3776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5689</TotalTime>
  <Words>329</Words>
  <Application>Microsoft Office PowerPoint</Application>
  <PresentationFormat>On-screen Show (4:3)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Case Writing:  Conceptualization to Publication</vt:lpstr>
      <vt:lpstr>Session Objectives </vt:lpstr>
      <vt:lpstr>Why Case Writing Matters for a DBA Scholar</vt:lpstr>
      <vt:lpstr>What Makes a Great Case?</vt:lpstr>
      <vt:lpstr>Structure of a Case Study</vt:lpstr>
      <vt:lpstr>Major Case repositories </vt:lpstr>
      <vt:lpstr>Let’s put our thinking caps on! </vt:lpstr>
      <vt:lpstr>And finally 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Writing: From Experience to Publication</dc:title>
  <dc:subject/>
  <dc:creator>IIM SBP</dc:creator>
  <cp:keywords/>
  <dc:description>generated using python-pptx</dc:description>
  <cp:lastModifiedBy>Kakoli  Sen</cp:lastModifiedBy>
  <cp:revision>13</cp:revision>
  <dcterms:created xsi:type="dcterms:W3CDTF">2013-01-27T09:14:16Z</dcterms:created>
  <dcterms:modified xsi:type="dcterms:W3CDTF">2025-11-01T17:08:08Z</dcterms:modified>
  <cp:category/>
</cp:coreProperties>
</file>